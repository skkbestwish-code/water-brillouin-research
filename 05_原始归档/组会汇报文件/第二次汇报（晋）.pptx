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内容来源：用户提供的 ChatGPT 分享页《确认学生版 Zemax 散射光模拟能力》，以及置顶任务《项目材料分析》《固定标准具说明》《解释VIPA意思》《VIPA ICCD中文解释》《实验论文借鉴》《光电倍增管原理》最近两周的讨论。Zemax 图按用户要求保留占位。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来源：上述六个置顶任务与 Zemax 分享页的综合整理。这里只列出完成事项，不把仍待厂家确认的参数写成已采购结论。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来源：《项目材料分析》《解释VIPA意思》。布里渊频移与波长换算、FSR 判据、固定/扫描谱仪分辨率讨论均来自这些对话。概念光谱仅说明峰的位置关系，不按真实峰高绘制。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来源：《固定标准具说明》《解释VIPA意思》《VIPA ICCD中文解释》《光电倍增管原理》。固定固体标准具示例：FSR≈15 GHz、典型 Finesse≈35，线宽约 428 MHz。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来源：Zemax 分享页、置顶任务《实验论文借鉴》。10 mm 对照模型给出约 16.7 mrad / 65.8 GHz；0.1 mm 模型给出约 0.167 mrad / 6.58 MHz。后续文献启发版把有效散射长度基准调整为 0.30 mm，并通过 100 μm 像面针孔筛选。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来源：ChatGPT 分享页中 Zemax 建模与实际载入检查记录。占位框按用户要求保留，用户后续自行替换模拟光路图。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来源：置顶任务《实验论文借鉴》与 Zemax 分享页中的文献对照。2003 年参数来自该任务对论文 Fig. 1 和 Experimental Measurements 的整理；2024 年参数来自 Applied Physics B 装置讨论。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来源：Zemax 分享页的最终标准透镜模型与《实验论文借鉴》中的三档光阑、三档针孔建议。位置 270.765 mm、372.841 mm 和 484.191 mm 来自标准目录透镜模型；薄透镜估算的 66.7 mm 和 100 mm 仅作初值。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来源：Zemax 分享页末段的光子数与散射功率估算、《项目材料分析》《解释VIPA意思》。信号量级属于初步估算，不作为器件验收指标。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来源：全部指定任务与 Zemax 分享页的综合结论。当前状态有意区分“已经完成的设计”和“仍待实物/厂家参数验证的事项”。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>
            <a:spLocks noGrp="1"/>
          </p:cNvSpPr>
          <p:nvPr/>
        </p:nvSpPr>
        <p:spPr>
          <a:xfrm>
            <a:off x="838200" y="1809750"/>
            <a:ext cx="1047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实验进展</a:t>
            </a:r>
            <a:endParaRPr sz="36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876300" y="272415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纯水瑞利–布里渊散射测量</a:t>
            </a:r>
            <a:endParaRPr sz="2100" b="0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76300" y="3581400"/>
            <a:ext cx="933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光路收集、谱仪路线、器材选型与 Zemax 建模</a:t>
            </a:r>
            <a:endParaRPr sz="1575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76300" y="50292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350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矩形 22"/>
          <p:cNvSpPr>
            <a:spLocks noGrp="1"/>
          </p:cNvSpPr>
          <p:nvPr/>
        </p:nvSpPr>
        <p:spPr>
          <a:xfrm>
            <a:off x="609600" y="361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近两周完成的工作</a:t>
            </a:r>
            <a:endParaRPr sz="25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952500"/>
            <a:ext cx="1095375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0">
              <a:solidFill>
                <a:srgbClr val="8A93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42950" y="12573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950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524000" y="12382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明确测量指标</a:t>
            </a:r>
            <a:endParaRPr sz="17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4343400" y="124777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 632.8 nm、90°纯水布里渊频移约 ±4.46 GHz，并据此反推谱仪 FSR 与分辨率。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24000" y="1914525"/>
            <a:ext cx="9677400" cy="9525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742950" y="2219325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950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24000" y="220027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比较分光路线</a:t>
            </a:r>
            <a:endParaRPr sz="17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4343400" y="220980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梳理扫描 FPI＋PMT、VIPA＋ICCD与固定标准具的工作方式、优点和限制。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24000" y="2876550"/>
            <a:ext cx="9677400" cy="9525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1813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950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24000" y="31623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重构收集光路</a:t>
            </a:r>
            <a:endParaRPr sz="17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343400" y="317182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把“整段 1 cm 直接准直”改为“成像选区、针孔滤波、再准直”，降低角度展宽。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24000" y="3838575"/>
            <a:ext cx="9677400" cy="9525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42950" y="4143375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950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24000" y="4124325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 Zemax 基线模型</a:t>
            </a:r>
            <a:endParaRPr sz="17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343400" y="4133850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采用实际目录透镜、可调光阑与代表光线，验证几何可行性并形成参数表。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524000" y="4800600"/>
            <a:ext cx="9677400" cy="9525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42950" y="51054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950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524000" y="508635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复核文献和信号量级</a:t>
            </a:r>
            <a:endParaRPr sz="17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343400" y="5095875"/>
            <a:ext cx="685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提取空间滤波、温控、频率标定与弱光探测经验，估算 FPI 入口光子数和 PMT 计数率。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609600" y="361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测量目标与核心指标</a:t>
            </a:r>
            <a:endParaRPr sz="25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阶段一优先测峰位置与温度响应，线宽测量要求更高的仪器分辨率</a:t>
            </a:r>
            <a:endParaRPr sz="1200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00150"/>
            <a:ext cx="1095375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1823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0">
              <a:solidFill>
                <a:srgbClr val="8A93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23900" y="1409700"/>
            <a:ext cx="2400300" cy="304800"/>
          </a:xfrm>
          <a:prstGeom prst="roundRect">
            <a:avLst>
              <a:gd name="adj" fmla="val 15625"/>
            </a:avLst>
          </a:prstGeom>
          <a:solidFill>
            <a:srgbClr val="EAF2F8"/>
          </a:solidFill>
          <a:ln w="9525">
            <a:solidFill>
              <a:srgbClr val="EAF2F8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632.8 nm、90°纯水</a:t>
            </a:r>
            <a:endParaRPr sz="1275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1895475"/>
            <a:ext cx="361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νB ≈ ±4.46 GHz</a:t>
            </a:r>
            <a:endParaRPr sz="23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240030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ΔλB ≈ ±5.95 pm</a:t>
            </a:r>
            <a:endParaRPr sz="1725" b="0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3009900"/>
            <a:ext cx="4762500" cy="2457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三峰总跨度约 8.92 GHz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FSR 需大于 8.92 GHz 才能无混叠容纳三峰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GHz、Finesse 150 对应仪器线宽约 67 MHz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GHz、1 pm 分辨率约等于 0.75 GHz，可测峰位但不适合精确测线宽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0" indent="0">
              <a:spcAft>
                <a:spcPts val="1000"/>
              </a:spcAft>
              <a:buNone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（即可以测温度</a:t>
            </a:r>
            <a:r>
              <a:rPr lang="zh-CN"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声速，</a:t>
            </a:r>
            <a:r>
              <a:rPr lang="zh-CN"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但黏度</a:t>
            </a:r>
            <a:r>
              <a:rPr lang="zh-CN"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不好测）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0" indent="0">
              <a:spcAft>
                <a:spcPts val="1000"/>
              </a:spcAft>
              <a:buNone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（参数分析详见后一页）</a:t>
            </a:r>
            <a:br>
              <a:rPr lang="zh-CN"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140970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概念光谱</a:t>
            </a:r>
            <a:endParaRPr sz="14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4953000"/>
            <a:ext cx="4762500" cy="19050"/>
          </a:xfrm>
          <a:prstGeom prst="rect">
            <a:avLst/>
          </a:prstGeom>
          <a:solidFill>
            <a:srgbClr val="222B36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524875" y="1952625"/>
            <a:ext cx="38100" cy="3000375"/>
          </a:xfrm>
          <a:prstGeom prst="rect">
            <a:avLst/>
          </a:prstGeom>
          <a:solidFill>
            <a:srgbClr val="AAB4B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858000" y="3000375"/>
            <a:ext cx="114300" cy="1952625"/>
          </a:xfrm>
          <a:prstGeom prst="rect">
            <a:avLst/>
          </a:prstGeom>
          <a:solidFill>
            <a:srgbClr val="2F6B9A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0134600" y="3000375"/>
            <a:ext cx="114300" cy="1952625"/>
          </a:xfrm>
          <a:prstGeom prst="rect">
            <a:avLst/>
          </a:prstGeom>
          <a:solidFill>
            <a:srgbClr val="2F6B9A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610350" y="26289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B−</a:t>
            </a:r>
            <a:endParaRPr sz="1350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143875" y="16002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弹性中心</a:t>
            </a:r>
            <a:endParaRPr sz="1275" b="1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886950" y="26289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B+</a:t>
            </a:r>
            <a:endParaRPr sz="1350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00825" y="5095875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−4.46</a:t>
            </a:r>
            <a:endParaRPr sz="1200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505825" y="5095875"/>
            <a:ext cx="3333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200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734550" y="50958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+4.46 GHz</a:t>
            </a:r>
            <a:endParaRPr sz="1200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191250" y="5581650"/>
            <a:ext cx="4762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水的本征瑞利峰积分强度较小；实验中心峰常被窗口反射、灰尘和激光漏光抬高。</a:t>
            </a:r>
            <a:endParaRPr sz="1200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矩形 12"/>
          <p:cNvSpPr>
            <a:spLocks noGrp="1"/>
          </p:cNvSpPr>
          <p:nvPr/>
        </p:nvSpPr>
        <p:spPr>
          <a:xfrm>
            <a:off x="609600" y="361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分光路线的比较结论</a:t>
            </a:r>
            <a:endParaRPr sz="25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952500"/>
            <a:ext cx="1095375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0">
              <a:solidFill>
                <a:srgbClr val="8A93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685800" y="1352550"/>
          <a:ext cx="10820400" cy="3143252"/>
        </p:xfrm>
        <a:graphic>
          <a:graphicData uri="http://schemas.openxmlformats.org/drawingml/2006/table">
            <a:tbl>
              <a:tblPr/>
              <a:tblGrid>
                <a:gridCol w="2000250"/>
                <a:gridCol w="3333750"/>
                <a:gridCol w="2190750"/>
                <a:gridCol w="3295650"/>
              </a:tblGrid>
              <a:tr h="785813"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路线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如何得到光谱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适合的探测器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当前判断</a:t>
                      </a:r>
                      <a:endParaRPr sz="14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扫描 FPI</a:t>
                      </a:r>
                      <a:endParaRPr sz="1350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PZT 改变腔长，频率依次透射</a:t>
                      </a:r>
                      <a:endParaRPr sz="1350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PMT</a:t>
                      </a:r>
                      <a:endParaRPr sz="1350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分辨率高，适合频移和线宽；扫描较慢</a:t>
                      </a:r>
                      <a:endParaRPr sz="1350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VIPA</a:t>
                      </a:r>
                      <a:endParaRPr sz="1350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频率映射为出射角和相机位置</a:t>
                      </a:r>
                      <a:endParaRPr sz="1350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ICCD / EMCCD / sCMOS</a:t>
                      </a:r>
                      <a:endParaRPr sz="1350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可一次摄谱；15 GHz、1 pm 更适合峰位测量</a:t>
                      </a:r>
                      <a:endParaRPr sz="1350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785813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固定固体标准具</a:t>
                      </a:r>
                      <a:endParaRPr sz="1350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固定腔长，可用角度或温度有限调谐</a:t>
                      </a:r>
                      <a:endParaRPr sz="1350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相机或滤波用途</a:t>
                      </a:r>
                      <a:endParaRPr sz="1350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 GHz、Finesse≈35 时线宽约 428 MHz，不能替代扫描 FPI</a:t>
                      </a:r>
                      <a:endParaRPr sz="1350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>
            <a:spLocks noGrp="1"/>
          </p:cNvSpPr>
          <p:nvPr/>
        </p:nvSpPr>
        <p:spPr>
          <a:xfrm>
            <a:off x="704850" y="48101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器件作用</a:t>
            </a:r>
            <a:endParaRPr sz="15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781050" y="5286375"/>
            <a:ext cx="2000250" cy="685800"/>
          </a:xfrm>
          <a:prstGeom prst="roundRect">
            <a:avLst>
              <a:gd name="adj" fmla="val 8333"/>
            </a:avLst>
          </a:prstGeom>
          <a:solidFill>
            <a:srgbClr val="EAF2F8"/>
          </a:solidFill>
          <a:ln w="9525">
            <a:solidFill>
              <a:srgbClr val="BED3E4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FPI / VIPA</a:t>
            </a:r>
            <a:endParaRPr sz="142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分离频率</a:t>
            </a:r>
            <a:endParaRPr sz="142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790950" y="5286375"/>
            <a:ext cx="2000250" cy="685800"/>
          </a:xfrm>
          <a:prstGeom prst="roundRect">
            <a:avLst>
              <a:gd name="adj" fmla="val 8333"/>
            </a:avLst>
          </a:prstGeom>
          <a:solidFill>
            <a:srgbClr val="EAF4F0"/>
          </a:solidFill>
          <a:ln w="9525">
            <a:solidFill>
              <a:srgbClr val="BFD9CF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PMT / ICCD</a:t>
            </a:r>
            <a:endParaRPr sz="142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记录弱光</a:t>
            </a:r>
            <a:endParaRPr sz="142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800850" y="5286375"/>
            <a:ext cx="2095500" cy="685800"/>
          </a:xfrm>
          <a:prstGeom prst="roundRect">
            <a:avLst>
              <a:gd name="adj" fmla="val 8333"/>
            </a:avLst>
          </a:prstGeom>
          <a:solidFill>
            <a:srgbClr val="F6F7F8"/>
          </a:solidFill>
          <a:ln w="9525">
            <a:solidFill>
              <a:srgbClr val="E5E9ED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标定与拟合</a:t>
            </a:r>
            <a:endParaRPr sz="142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 νB、ΓB</a:t>
            </a:r>
            <a:endParaRPr sz="142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9810750" y="5286375"/>
            <a:ext cx="1714500" cy="6858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B9C1C8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声速 / 温度</a:t>
            </a:r>
            <a:endParaRPr sz="127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线宽需更高分辨率</a:t>
            </a:r>
            <a:endParaRPr sz="127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3124200" y="5524500"/>
            <a:ext cx="400050" cy="171450"/>
          </a:xfrm>
          <a:prstGeom prst="rightArrow">
            <a:avLst/>
          </a:prstGeom>
          <a:solidFill>
            <a:srgbClr val="59636E"/>
          </a:solidFill>
          <a:ln w="0">
            <a:solidFill>
              <a:srgbClr val="59636E"/>
            </a:solidFill>
            <a:prstDash val="solid"/>
          </a:ln>
        </p:spPr>
      </p:sp>
      <p:sp>
        <p:nvSpPr>
          <p:cNvPr id="11" name="右箭头 10"/>
          <p:cNvSpPr>
            <a:spLocks noGrp="1"/>
          </p:cNvSpPr>
          <p:nvPr/>
        </p:nvSpPr>
        <p:spPr>
          <a:xfrm>
            <a:off x="6134100" y="5524500"/>
            <a:ext cx="400050" cy="171450"/>
          </a:xfrm>
          <a:prstGeom prst="rightArrow">
            <a:avLst/>
          </a:prstGeom>
          <a:solidFill>
            <a:srgbClr val="59636E"/>
          </a:solidFill>
          <a:ln w="0">
            <a:solidFill>
              <a:srgbClr val="59636E"/>
            </a:solidFill>
            <a:prstDash val="solid"/>
          </a:ln>
        </p:spPr>
      </p:sp>
      <p:sp>
        <p:nvSpPr>
          <p:cNvPr id="12" name="右箭头 11"/>
          <p:cNvSpPr>
            <a:spLocks noGrp="1"/>
          </p:cNvSpPr>
          <p:nvPr/>
        </p:nvSpPr>
        <p:spPr>
          <a:xfrm>
            <a:off x="9201150" y="5524500"/>
            <a:ext cx="400050" cy="171450"/>
          </a:xfrm>
          <a:prstGeom prst="rightArrow">
            <a:avLst/>
          </a:prstGeom>
          <a:solidFill>
            <a:srgbClr val="59636E"/>
          </a:solidFill>
          <a:ln w="0">
            <a:solidFill>
              <a:srgbClr val="59636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609600" y="361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收集光路的关键改进</a:t>
            </a:r>
            <a:endParaRPr sz="25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把“汇聚”和“准直”放在不同位置完成，并用针孔选择有效散射体积</a:t>
            </a:r>
            <a:endParaRPr sz="1200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00150"/>
            <a:ext cx="1095375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1823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0">
              <a:solidFill>
                <a:srgbClr val="8A93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723900" y="1381125"/>
            <a:ext cx="1428750" cy="304800"/>
          </a:xfrm>
          <a:prstGeom prst="roundRect">
            <a:avLst>
              <a:gd name="adj" fmla="val 15625"/>
            </a:avLst>
          </a:prstGeom>
          <a:solidFill>
            <a:srgbClr val="FCEBEC"/>
          </a:solidFill>
          <a:ln w="9525">
            <a:solidFill>
              <a:srgbClr val="FCEBEC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A944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A944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原始思路</a:t>
            </a:r>
            <a:endParaRPr sz="1275" b="1">
              <a:solidFill>
                <a:srgbClr val="A944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18288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整段 10 mm 散射柱直接进入单片收集镜，再送入 FPI</a:t>
            </a:r>
            <a:endParaRPr sz="172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428875"/>
            <a:ext cx="4905375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不同位置对应不同出射角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整段收集时 FPI 边缘角约 16.7 mrad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估算角度频移约 65.8 GHz，远超允许范围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同时追求大收光量、极小立体角和小焦点不可兼得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191250" y="1381125"/>
            <a:ext cx="1428750" cy="304800"/>
          </a:xfrm>
          <a:prstGeom prst="roundRect">
            <a:avLst>
              <a:gd name="adj" fmla="val 15625"/>
            </a:avLst>
          </a:prstGeom>
          <a:solidFill>
            <a:srgbClr val="EAF4F0"/>
          </a:solidFill>
          <a:ln w="9525">
            <a:solidFill>
              <a:srgbClr val="EAF4F0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E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E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改进方案</a:t>
            </a:r>
            <a:endParaRPr sz="1275" b="1">
              <a:solidFill>
                <a:srgbClr val="2E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1828800"/>
            <a:ext cx="4857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 成像选区，针孔筛选，L2 再准直</a:t>
            </a:r>
            <a:endParaRPr sz="172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6210300" y="2724150"/>
            <a:ext cx="104775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9ED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mm</a:t>
            </a:r>
            <a:endParaRPr sz="1350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散射柱</a:t>
            </a:r>
            <a:endParaRPr sz="1350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7715250" y="2724150"/>
            <a:ext cx="1143000" cy="666750"/>
          </a:xfrm>
          <a:prstGeom prst="roundRect">
            <a:avLst>
              <a:gd name="adj" fmla="val 8571"/>
            </a:avLst>
          </a:prstGeom>
          <a:solidFill>
            <a:srgbClr val="EAF2F8"/>
          </a:solidFill>
          <a:ln w="9525">
            <a:solidFill>
              <a:srgbClr val="BED3E4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50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收集/成像</a:t>
            </a:r>
            <a:endParaRPr sz="1350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9315450" y="2724150"/>
            <a:ext cx="1200150" cy="666750"/>
          </a:xfrm>
          <a:prstGeom prst="roundRect">
            <a:avLst>
              <a:gd name="adj" fmla="val 8571"/>
            </a:avLst>
          </a:prstGeom>
          <a:solidFill>
            <a:srgbClr val="EAF4F0"/>
          </a:solidFill>
          <a:ln w="9525">
            <a:solidFill>
              <a:srgbClr val="BFD9CF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针孔</a:t>
            </a:r>
            <a:endParaRPr sz="127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 0.30 mm</a:t>
            </a:r>
            <a:endParaRPr sz="127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9315450" y="4095750"/>
            <a:ext cx="1200150" cy="666750"/>
          </a:xfrm>
          <a:prstGeom prst="roundRect">
            <a:avLst>
              <a:gd name="adj" fmla="val 8571"/>
            </a:avLst>
          </a:prstGeom>
          <a:solidFill>
            <a:srgbClr val="EAF2F8"/>
          </a:solidFill>
          <a:ln w="9525">
            <a:solidFill>
              <a:srgbClr val="BED3E4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50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准直</a:t>
            </a:r>
            <a:endParaRPr sz="1350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7715250" y="4095750"/>
            <a:ext cx="1143000" cy="66675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9525">
            <a:solidFill>
              <a:srgbClr val="E5E9ED"/>
            </a:solidFill>
            <a:prstDash val="solid"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FPI / VIPA</a:t>
            </a:r>
            <a:endParaRPr sz="127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＋探测器</a:t>
            </a:r>
            <a:endParaRPr sz="1275" b="1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7362825" y="2962275"/>
            <a:ext cx="247650" cy="171450"/>
          </a:xfrm>
          <a:prstGeom prst="rightArrow">
            <a:avLst/>
          </a:prstGeom>
          <a:solidFill>
            <a:srgbClr val="59636E"/>
          </a:solidFill>
          <a:ln w="0">
            <a:solidFill>
              <a:srgbClr val="59636E"/>
            </a:solidFill>
            <a:prstDash val="solid"/>
          </a:ln>
        </p:spPr>
      </p:sp>
      <p:sp>
        <p:nvSpPr>
          <p:cNvPr id="16" name="右箭头 15"/>
          <p:cNvSpPr>
            <a:spLocks noGrp="1"/>
          </p:cNvSpPr>
          <p:nvPr/>
        </p:nvSpPr>
        <p:spPr>
          <a:xfrm>
            <a:off x="8963025" y="2962275"/>
            <a:ext cx="247650" cy="171450"/>
          </a:xfrm>
          <a:prstGeom prst="rightArrow">
            <a:avLst/>
          </a:prstGeom>
          <a:solidFill>
            <a:srgbClr val="59636E"/>
          </a:solidFill>
          <a:ln w="0">
            <a:solidFill>
              <a:srgbClr val="59636E"/>
            </a:solidFill>
            <a:prstDash val="solid"/>
          </a:ln>
        </p:spPr>
      </p:sp>
      <p:sp>
        <p:nvSpPr>
          <p:cNvPr id="17" name="下箭头 16"/>
          <p:cNvSpPr>
            <a:spLocks noGrp="1"/>
          </p:cNvSpPr>
          <p:nvPr/>
        </p:nvSpPr>
        <p:spPr>
          <a:xfrm>
            <a:off x="9791700" y="3543300"/>
            <a:ext cx="228600" cy="428625"/>
          </a:xfrm>
          <a:prstGeom prst="downArrow">
            <a:avLst/>
          </a:prstGeom>
          <a:solidFill>
            <a:srgbClr val="59636E"/>
          </a:solidFill>
          <a:ln w="0">
            <a:solidFill>
              <a:srgbClr val="59636E"/>
            </a:solidFill>
            <a:prstDash val="solid"/>
          </a:ln>
        </p:spPr>
      </p:sp>
      <p:sp>
        <p:nvSpPr>
          <p:cNvPr id="18" name="左箭头 17"/>
          <p:cNvSpPr>
            <a:spLocks noGrp="1"/>
          </p:cNvSpPr>
          <p:nvPr/>
        </p:nvSpPr>
        <p:spPr>
          <a:xfrm>
            <a:off x="8963025" y="4343400"/>
            <a:ext cx="247650" cy="171450"/>
          </a:xfrm>
          <a:prstGeom prst="leftArrow">
            <a:avLst/>
          </a:prstGeom>
          <a:solidFill>
            <a:srgbClr val="59636E"/>
          </a:solidFill>
          <a:ln w="0">
            <a:solidFill>
              <a:srgbClr val="59636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6191250" y="51911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E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E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针孔前：光束尽量汇聚</a:t>
            </a:r>
            <a:endParaRPr sz="1350" b="1">
              <a:solidFill>
                <a:srgbClr val="2E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724900" y="51911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 后：光束近似平行</a:t>
            </a:r>
            <a:endParaRPr sz="1350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191250" y="5667375"/>
            <a:ext cx="4857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 100 μm 针孔选择约 0.30 mm 散射长度；60/30 μm 可作为精密档。</a:t>
            </a:r>
            <a:endParaRPr sz="1350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361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Zemax 模型与模拟占位</a:t>
            </a:r>
            <a:endParaRPr sz="25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952500"/>
            <a:ext cx="1095375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0">
              <a:solidFill>
                <a:srgbClr val="8A93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66750" y="1352550"/>
            <a:ext cx="7239000" cy="4305300"/>
          </a:xfrm>
          <a:prstGeom prst="roundRect">
            <a:avLst>
              <a:gd name="adj" fmla="val 1106"/>
            </a:avLst>
          </a:prstGeom>
          <a:solidFill>
            <a:srgbClr val="FFFFFF"/>
          </a:solidFill>
          <a:ln w="19050">
            <a:solidFill>
              <a:srgbClr val="AEB7C0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477250" y="1381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模型已验证的内容</a:t>
            </a:r>
            <a:endParaRPr sz="17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401050" y="1885950"/>
            <a:ext cx="3143250" cy="2762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800"/>
              </a:spcAft>
              <a:buChar char="•"/>
              <a:defRPr sz="135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mm 垂直发光体积，设置中心与边缘代表光线</a:t>
            </a:r>
            <a:endParaRPr sz="135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800"/>
              </a:spcAft>
              <a:buChar char="•"/>
              <a:defRPr sz="135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水套窗口、L1 前光阑和像面针孔具有真实截光作用</a:t>
            </a:r>
            <a:endParaRPr sz="135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800"/>
              </a:spcAft>
              <a:buChar char="•"/>
              <a:defRPr sz="135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L1、L2 采用标准目录消色差透镜的真实曲率和材料</a:t>
            </a:r>
            <a:endParaRPr sz="135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800"/>
              </a:spcAft>
              <a:buChar char="•"/>
              <a:defRPr sz="135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模型可在 Zemax OpticStudio 2026 R1 Student 中正常打开</a:t>
            </a:r>
            <a:endParaRPr sz="135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382000" y="4810125"/>
            <a:ext cx="3048000" cy="9525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77250" y="500062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A944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A944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当前限制</a:t>
            </a:r>
            <a:endParaRPr sz="1575" b="1">
              <a:solidFill>
                <a:srgbClr val="A944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77250" y="5391150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尚未加入 FPI 真实腔镜、石英池壁折射、表面杂散反射和完整公差分析。</a:t>
            </a:r>
            <a:endParaRPr sz="1275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 descr="0c2de108e8221d374101e479b84f2fba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760" y="1352550"/>
            <a:ext cx="4857115" cy="2040890"/>
          </a:xfrm>
          <a:prstGeom prst="rect">
            <a:avLst/>
          </a:prstGeom>
        </p:spPr>
      </p:pic>
      <p:pic>
        <p:nvPicPr>
          <p:cNvPr id="14" name="图片 13" descr="7bf0b4ba8cf2f7b6ef93087bfcf6b1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225" y="3233420"/>
            <a:ext cx="6935470" cy="19780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609600" y="361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文献装置带来的改进</a:t>
            </a:r>
            <a:endParaRPr sz="25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952500"/>
            <a:ext cx="1095375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0">
              <a:solidFill>
                <a:srgbClr val="8A93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3525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2003 年水布里渊实验</a:t>
            </a:r>
            <a:endParaRPr sz="18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28800"/>
            <a:ext cx="4762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532 nm 单纵模脉冲激光，线宽 60 MHz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170°散射，15 μm 空间滤波针孔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 FPI：FSR 18.54 GHz，PMT 模拟输出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 s 扫描并平均 6 组；用已知 FSR 做频率标定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19850" y="13525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 年装置</a:t>
            </a:r>
            <a:endParaRPr sz="18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381750" y="1828800"/>
            <a:ext cx="47625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L1（75 mm）—30 μm 针孔—L2（50 mm）—FPI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只观察水柱的一小段，降低角度误差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空间滤波同时压制玻璃表面弹性散射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直接支持当前 L1—针孔—L2 架构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4495800"/>
            <a:ext cx="10382250" cy="9525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47625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已纳入当前方案</a:t>
            </a:r>
            <a:endParaRPr sz="1575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52578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空间滤波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5581650"/>
            <a:ext cx="2362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可更换 100 / 60 / 30 μm 针孔</a:t>
            </a:r>
            <a:endParaRPr sz="1275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09950" y="52578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杂散光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409950" y="5581650"/>
            <a:ext cx="2362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楔形或倾斜窗口、消光挡板、激光光阱</a:t>
            </a:r>
            <a:endParaRPr sz="1275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076950" y="52578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温控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76950" y="5581650"/>
            <a:ext cx="2362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外循环恒温＋Pt100 测样品真实温度</a:t>
            </a:r>
            <a:endParaRPr sz="1275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43950" y="52578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3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743950" y="5581650"/>
            <a:ext cx="23622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频率标定、多次平均、峰形拟合</a:t>
            </a:r>
            <a:endParaRPr sz="1275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361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当前前端器材与几何参数</a:t>
            </a:r>
            <a:endParaRPr sz="25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位置均按散射体中心为 0 mm；实际装调需按目录透镜主平面微调</a:t>
            </a:r>
            <a:endParaRPr sz="1200" b="0">
              <a:solidFill>
                <a:srgbClr val="5963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1200150"/>
            <a:ext cx="1095375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1823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0">
              <a:solidFill>
                <a:srgbClr val="8A93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表格 10"/>
          <p:cNvGraphicFramePr/>
          <p:nvPr/>
        </p:nvGraphicFramePr>
        <p:xfrm>
          <a:off x="666750" y="1333500"/>
          <a:ext cx="10858500" cy="4686300"/>
        </p:xfrm>
        <a:graphic>
          <a:graphicData uri="http://schemas.openxmlformats.org/drawingml/2006/table">
            <a:tbl>
              <a:tblPr/>
              <a:tblGrid>
                <a:gridCol w="2143125"/>
                <a:gridCol w="5572125"/>
                <a:gridCol w="3143250"/>
              </a:tblGrid>
              <a:tr h="5207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模块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当前参数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作用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7324D"/>
                    </a:solidFill>
                  </a:tcPr>
                </a:tc>
              </a:tr>
              <a:tr h="5207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散射区域</a:t>
                      </a:r>
                      <a:endParaRPr sz="1275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垂直光轴，长度 10 mm；有效选区 0.30 mm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等效发光体积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水套窗口</a:t>
                      </a:r>
                      <a:endParaRPr sz="1275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距光源约 5 mm；1.20 × 0.70 mm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放行目标收集锥并遮挡杂光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5207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 前可调光阑</a:t>
                      </a:r>
                      <a:endParaRPr sz="1275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距光源约 199 mm；Ø9 / 3.5 / 1.75 mm</a:t>
                      </a:r>
                      <a:r>
                        <a:rPr lang="zh-CN"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</a:t>
                      </a:r>
                      <a:r>
                        <a:rPr lang="zh-CN"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可调）</a:t>
                      </a:r>
                      <a:endParaRPr lang="zh-CN"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在信号与散射角误差间切换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</a:t>
                      </a:r>
                      <a:endParaRPr sz="1275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ACA254-050-A；EFL≈50 mm；Ø25.4 mm；位置 200 mm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收集并把散射区成像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5207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像面针孔</a:t>
                      </a:r>
                      <a:endParaRPr sz="1275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位置约 270.765 mm；基准 Ø100 μm，可换 60 / 30 μm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选择 散射长度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zh-CN" sz="1275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（分别对应</a:t>
                      </a:r>
                      <a:r>
                        <a:rPr lang="en-US" altLang="zh-CN" sz="1275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sz="1275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0.30 / 0.18 / 0.09 mm</a:t>
                      </a:r>
                      <a:r>
                        <a:rPr lang="zh-CN" sz="1275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）</a:t>
                      </a:r>
                      <a:r>
                        <a:rPr sz="1275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L2</a:t>
                      </a:r>
                      <a:endParaRPr sz="1275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ACA254-100-A；EFL≈100 mm；Ø25.4 mm；位置 372.841 mm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把针孔出光重新准直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  <a:tr h="5207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输出评估</a:t>
                      </a:r>
                      <a:endParaRPr sz="1275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位置约 484.191 mm；</a:t>
                      </a:r>
                      <a:r>
                        <a:rPr lang="zh-CN"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针孔</a:t>
                      </a:r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 μm</a:t>
                      </a:r>
                      <a:r>
                        <a:rPr lang="en-US"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对应</a:t>
                      </a:r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理论半角约 ±0.50 mrad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 FPI / VIPA 入射角和光束范围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lang="zh-CN"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再随实际情况调整</a:t>
                      </a:r>
                      <a:r>
                        <a:rPr lang="zh-CN"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选择</a:t>
                      </a:r>
                      <a:endParaRPr lang="zh-CN"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1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温控</a:t>
                      </a:r>
                      <a:endParaRPr sz="1275" b="1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外循环恒温；槽稳定度 ≤±0.05 ℃；样品 ≤±0.2 ℃；Pt100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275" b="0">
                          <a:solidFill>
                            <a:srgbClr val="222B36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稳定并记录真实样品温度</a:t>
                      </a:r>
                      <a:endParaRPr sz="1275" b="0">
                        <a:solidFill>
                          <a:srgbClr val="222B36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6F7F8"/>
                    </a:solidFill>
                  </a:tcPr>
                </a:tc>
              </a:tr>
            </a:tbl>
          </a:graphicData>
        </a:graphic>
      </p:graphicFrame>
      <p:sp>
        <p:nvSpPr>
          <p:cNvPr id="6" name="矩形 5"/>
          <p:cNvSpPr>
            <a:spLocks noGrp="1"/>
          </p:cNvSpPr>
          <p:nvPr/>
        </p:nvSpPr>
        <p:spPr>
          <a:xfrm>
            <a:off x="704850" y="6181725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Ø9 mm 适合找光与弱信号；Ø3.5 mm 为常规测量档；Ø1.75 mm 用于高精度角度控制。</a:t>
            </a:r>
            <a:r>
              <a:rPr lang="zh-CN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（逐步</a:t>
            </a:r>
            <a:r>
              <a:rPr lang="zh-CN"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细化）</a:t>
            </a:r>
            <a:endParaRPr lang="zh-CN" sz="1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609600" y="361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后端参数、探测器与信号量级</a:t>
            </a:r>
            <a:endParaRPr sz="25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952500"/>
            <a:ext cx="1095375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0">
              <a:solidFill>
                <a:srgbClr val="8A93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3335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高分辨主方案：扫描 FPI＋PMT</a:t>
            </a:r>
            <a:endParaRPr sz="17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09750"/>
            <a:ext cx="490537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工作波长 632.8 nm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FSR 目标 10–12 GHz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Finesse ≥150；仪器线宽 ≤67 MHz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PZT 可重复扫描，需峰值透射率、有效口径与外部标定接口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PMT 在 633 nm 附近需有足够量子效率，并配置低噪声放大/采集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324600" y="13335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快速备选：15 GHz VIPA＋ICCD</a:t>
            </a:r>
            <a:endParaRPr sz="17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0" y="1809750"/>
            <a:ext cx="495300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一次摄谱，无需 PZT 逐点扫描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pm 分辨率约 0.75 GHz，能分离并拟合峰中心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更适合布里渊频移、声速和温度趋势，不适合精确线宽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实验室已有 ICCD，但需确认 632.8 nm 量子效率、像素、门宽和长曝光能力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900"/>
              </a:spcAft>
              <a:buChar char="•"/>
              <a:def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需要控制窗口反射和中心弹性杂散光</a:t>
            </a:r>
            <a:endParaRPr sz="1425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4838700"/>
            <a:ext cx="10477500" cy="9525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50673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2F6B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 5 mW He-Ne、Ø9 mm 光阑的初步估算</a:t>
            </a:r>
            <a:endParaRPr sz="1500" b="1">
              <a:solidFill>
                <a:srgbClr val="2F6B9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5505450"/>
            <a:ext cx="1028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FPI 入口约 10.6 fW，约 3.4×10⁴ photons/s；扫描到单个布里渊峰中心时，PMT 预计约 60–160 cps。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6115050"/>
            <a:ext cx="981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963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以上为量级估算</a:t>
            </a:r>
            <a:endParaRPr sz="1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361950"/>
            <a:ext cx="1057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阶段性结论与下一步验证</a:t>
            </a:r>
            <a:endParaRPr sz="255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952500"/>
            <a:ext cx="1095375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82350" y="630555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A93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8A93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23900" y="1381125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E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E6B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已经解决</a:t>
            </a:r>
            <a:endParaRPr sz="1875" b="1">
              <a:solidFill>
                <a:srgbClr val="2E6B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85950"/>
            <a:ext cx="4905375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 632.8 nm、90°纯水的频移与 FSR 下限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区分固定标准具、扫描 FPI 与 VIPA 的测谱方式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明确 PMT 和 ICCD 的不同探测任务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解决整段 1 cm 光源无法同时小角度准直的问题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形成可在学生版 Zemax 中运行的模型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324600" y="1381125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A944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A9444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还需验证</a:t>
            </a:r>
            <a:endParaRPr sz="1875" b="1">
              <a:solidFill>
                <a:srgbClr val="A9444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0" y="1885950"/>
            <a:ext cx="5276850" cy="3190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读取实验室 ICCD 的型号与 632.8 nm 响应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获得扫描 FPI 与 VIPA 的正式技术回复和报价</a:t>
            </a:r>
            <a:r>
              <a:rPr lang="zh-CN"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，进行采购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把石英池壁、楔角窗口、真实 FPI 腔和杂散反射加入模型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用实测透过率、PMT 暗计数与积分时间更新 SNR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4000" indent="-127000">
              <a:spcAft>
                <a:spcPts val="1000"/>
              </a:spcAft>
              <a:buChar char="•"/>
              <a:def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222B3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完成三档光阑、三档针孔的实验标定</a:t>
            </a:r>
            <a:endParaRPr sz="1500" b="0">
              <a:solidFill>
                <a:srgbClr val="222B3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5314950"/>
            <a:ext cx="10477500" cy="19050"/>
          </a:xfrm>
          <a:prstGeom prst="rect">
            <a:avLst/>
          </a:prstGeom>
          <a:solidFill>
            <a:srgbClr val="E5E9ED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5629275"/>
            <a:ext cx="10382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当前：前端收集光路</a:t>
            </a:r>
            <a:r>
              <a:rPr lang="zh-CN"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基本在理论</a:t>
            </a:r>
            <a:r>
              <a:rPr lang="zh-CN"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上确定</a:t>
            </a:r>
            <a:r>
              <a:rPr sz="172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；后端在“高分辨扫描”与“快速一次摄谱”之间等待器件参数和预算定型。</a:t>
            </a:r>
            <a:endParaRPr sz="172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2903</Words>
  <Application>WPS 演示</Application>
  <PresentationFormat>Converted Presentation</PresentationFormat>
  <Paragraphs>329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JinJin</cp:lastModifiedBy>
  <cp:revision>2</cp:revision>
  <dcterms:created xsi:type="dcterms:W3CDTF">2026-09-19T06:36:00Z</dcterms:created>
  <dcterms:modified xsi:type="dcterms:W3CDTF">2026-09-20T01:25:33Z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E9968E777BE04FBBB58B5D48E83BB0D1_12</vt:lpwstr>
  </property>
</Properties>
</file>