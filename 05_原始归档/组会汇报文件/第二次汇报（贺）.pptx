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71" r:id="rId4"/>
    <p:sldId id="272" r:id="rId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32132CB-6496-4990-8280-8FB5CE41E5D5}">
          <p14:sldIdLst>
            <p14:sldId id="258"/>
          </p14:sldIdLst>
        </p14:section>
        <p14:section name="无标题节" id="{943D4C5D-4DB9-4B65-8839-CF3D5717A424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howGuides="1">
      <p:cViewPr>
        <p:scale>
          <a:sx n="75" d="100"/>
          <a:sy n="75" d="100"/>
        </p:scale>
        <p:origin x="734" y="38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1636D-AAC5-4849-957E-B9FE1ECC7E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2D630-D7B4-437C-AAF2-A4944786EB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D630-D7B4-437C-AAF2-A4944786E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2D630-D7B4-437C-AAF2-A4944786EB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FB729-98E4-45C8-8056-4A2E152BFB5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00A9C-7B46-4957-BFE6-1F507F26FF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CB2D8-1267-4C19-809C-09C5DF8F1A3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B1-4117-4C75-9EBC-8E46A5A9CA8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27281-57C8-46B7-9E15-9024953134D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31534-F019-4C28-A7E7-CA40FE872C0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7EE72-DD98-41E0-8A6D-41B14ACE572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BEB76-FE05-42A1-83E5-C13FB43DBCB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C0644-D486-4D60-9B3C-97F8B2A6837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37F7-9725-41FB-8C7B-98AE2286EC3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3C1FE-659A-47A6-9E9F-02B6D8A8F58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E7B41-4038-4FD6-8B11-74990DAAD65C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://dx.doi.org/10.1088/1612-2011/13/5/055701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5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286000" y="2362201"/>
            <a:ext cx="8001000" cy="1470025"/>
          </a:xfrm>
        </p:spPr>
        <p:txBody>
          <a:bodyPr anchor="ctr">
            <a:normAutofit/>
          </a:bodyPr>
          <a:lstStyle/>
          <a:p>
            <a:r>
              <a:rPr lang="zh-CN" altLang="en-US" sz="4800" b="1" dirty="0"/>
              <a:t>使用标准具测量布里渊光谱</a:t>
            </a:r>
            <a:endParaRPr lang="zh-CN" altLang="zh-CN" sz="36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156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5181600"/>
            <a:ext cx="6400800" cy="990600"/>
          </a:xfrm>
        </p:spPr>
        <p:txBody>
          <a:bodyPr/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9.24</a:t>
            </a:r>
            <a:endParaRPr lang="en-US" altLang="zh-CN" sz="3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029200" cy="563562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标准具</a:t>
            </a:r>
            <a:endParaRPr lang="zh-CN" altLang="zh-CN" sz="4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内容占位符 11"/>
              <p:cNvSpPr>
                <a:spLocks noGrp="1"/>
              </p:cNvSpPr>
              <p:nvPr>
                <p:ph idx="1"/>
              </p:nvPr>
            </p:nvSpPr>
            <p:spPr>
              <a:xfrm>
                <a:off x="258927" y="1376825"/>
                <a:ext cx="7277233" cy="5098617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sz="2000" dirty="0"/>
                  <a:t>2016</a:t>
                </a:r>
                <a:r>
                  <a:rPr lang="zh-CN" altLang="en-US" sz="2000" dirty="0"/>
                  <a:t>年华中科大使用标准具对水的布里渊散射谱进行了测量。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使用</a:t>
                </a:r>
                <a:r>
                  <a:rPr lang="en-US" altLang="zh-CN" sz="2000" dirty="0"/>
                  <a:t>650 mJ,10 Hz</a:t>
                </a:r>
                <a:r>
                  <a:rPr lang="zh-CN" altLang="en-US" sz="2000" dirty="0"/>
                  <a:t>的</a:t>
                </a:r>
                <a:r>
                  <a:rPr lang="en-US" altLang="zh-CN" sz="2000" dirty="0"/>
                  <a:t>532nm</a:t>
                </a:r>
                <a:r>
                  <a:rPr lang="zh-CN" altLang="en-US" sz="2000" dirty="0"/>
                  <a:t>激光。</a:t>
                </a:r>
                <a:r>
                  <a:rPr lang="en-US" altLang="zh-CN" sz="2000" dirty="0"/>
                  <a:t>F-P</a:t>
                </a:r>
                <a:r>
                  <a:rPr lang="zh-CN" altLang="en-US" sz="2000" dirty="0"/>
                  <a:t>标准具为石英制成的</a:t>
                </a:r>
                <a:r>
                  <a:rPr lang="en-US" altLang="zh-CN" sz="2000" dirty="0"/>
                  <a:t>CVI</a:t>
                </a:r>
                <a:r>
                  <a:rPr lang="zh-CN" altLang="en-US" sz="2000" dirty="0"/>
                  <a:t>固体标准具，自由光谱范围为</a:t>
                </a:r>
                <a:r>
                  <a:rPr lang="en-US" altLang="zh-CN" sz="2000" dirty="0"/>
                  <a:t>FSR = 20 GHz</a:t>
                </a:r>
                <a:r>
                  <a:rPr lang="zh-CN" altLang="en-US" sz="2000" dirty="0"/>
                  <a:t>，反射率</a:t>
                </a:r>
                <a:r>
                  <a:rPr lang="en-US" altLang="zh-CN" sz="2000" dirty="0"/>
                  <a:t>99.5%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文章从二维图样提取一维半径谱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𝑟𝑒𝑐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zh-CN" altLang="en-US" sz="2000" i="1">
                        <a:latin typeface="Cambria Math" panose="02040503050406030204" pitchFamily="18" charset="0"/>
                      </a:rPr>
                      <m:t>后</m:t>
                    </m:r>
                  </m:oMath>
                </a14:m>
                <a:r>
                  <a:rPr lang="zh-CN" altLang="en-US" sz="2000" dirty="0"/>
                  <a:t>，根据原卷积公式拟合得到布里渊频移与展宽；以及由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𝐹𝑆𝑅</m:t>
                    </m:r>
                  </m:oMath>
                </a14:m>
                <a:r>
                  <a:rPr lang="zh-CN" altLang="en-US" sz="2000" dirty="0"/>
                  <a:t>，转化为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𝑟𝑒𝑐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后</m:t>
                    </m:r>
                  </m:oMath>
                </a14:m>
                <a:r>
                  <a:rPr lang="zh-CN" altLang="en-US" sz="2000" dirty="0"/>
                  <a:t>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𝑟𝑒𝑐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⊗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𝐴𝑖𝑟𝑦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 </m:t>
                    </m:r>
                  </m:oMath>
                </a14:m>
                <a:r>
                  <a:rPr lang="zh-CN" altLang="en-US" sz="2000" dirty="0"/>
                  <a:t>拟合得到布里渊频移与展宽。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zh-CN" altLang="en-US" sz="2000" dirty="0"/>
              </a:p>
            </p:txBody>
          </p:sp>
        </mc:Choice>
        <mc:Fallback>
          <p:sp>
            <p:nvSpPr>
              <p:cNvPr id="12" name="内容占位符 1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7" y="1376825"/>
                <a:ext cx="7277233" cy="5098617"/>
              </a:xfrm>
              <a:blipFill rotWithShape="1">
                <a:blip r:embed="rId2"/>
                <a:stretch>
                  <a:fillRect l="-7" t="-3" r="8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815" y="1268760"/>
            <a:ext cx="4452258" cy="346929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1095" y="6475442"/>
            <a:ext cx="4524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zh-CN" altLang="zh-CN" sz="700" b="0" i="0" dirty="0">
                <a:solidFill>
                  <a:schemeClr val="tx1"/>
                </a:solidFill>
                <a:effectLst/>
                <a:latin typeface="+mn-lt"/>
              </a:rPr>
              <a:t>Experimental analysis on the rapid measurement of a high precision Brillouin scattering spectrum in water using a Fabry–Pérot etalon</a:t>
            </a:r>
            <a:r>
              <a:rPr lang="en-US" altLang="zh-CN" sz="700" dirty="0"/>
              <a:t>: </a:t>
            </a:r>
            <a:r>
              <a:rPr lang="en-US" altLang="zh-CN" sz="700" dirty="0">
                <a:hlinkClick r:id="rId4"/>
              </a:rPr>
              <a:t>http://dx.doi.org/10.1088/1612-2011/13/5/055701</a:t>
            </a:r>
            <a:r>
              <a:rPr lang="en-US" altLang="zh-CN" sz="700" dirty="0"/>
              <a:t> </a:t>
            </a:r>
            <a:endParaRPr lang="zh-CN" altLang="zh-CN" sz="700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27" y="4705541"/>
            <a:ext cx="4304159" cy="154839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6240" y="5045759"/>
            <a:ext cx="3384556" cy="142968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489" y="3988205"/>
            <a:ext cx="3229021" cy="2669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9" name="Rectangle 11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5029200" cy="563562"/>
          </a:xfrm>
        </p:spPr>
        <p:txBody>
          <a:bodyPr>
            <a:normAutofit fontScale="90000"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理论基础与方案</a:t>
            </a:r>
            <a:endParaRPr lang="zh-CN" altLang="zh-CN" sz="4000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内容占位符 11"/>
              <p:cNvSpPr>
                <a:spLocks noGrp="1"/>
              </p:cNvSpPr>
              <p:nvPr>
                <p:ph idx="1"/>
              </p:nvPr>
            </p:nvSpPr>
            <p:spPr>
              <a:xfrm>
                <a:off x="193857" y="1254403"/>
                <a:ext cx="7806381" cy="5250347"/>
              </a:xfrm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使用</a:t>
                </a:r>
                <a:r>
                  <a:rPr lang="en-US" altLang="zh-CN" sz="2000" dirty="0"/>
                  <a:t>FP</a:t>
                </a:r>
                <a:r>
                  <a:rPr lang="zh-CN" altLang="en-US" sz="2000" dirty="0"/>
                  <a:t>标准具对布里渊散射光谱测量，理论上可一次性得到输出的二维同心环图样，包含光谱信息。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标准具中相邻两束光的相位差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𝑛𝑑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000" b="0" i="1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000" dirty="0"/>
                  <a:t>，根据多光束干涉的结果，可得透射光强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Sup>
                          <m:sSub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sz="2000" dirty="0"/>
                  <a:t>精细度，自由光谱</a:t>
                </a:r>
                <a14:m>
                  <m:oMath xmlns:m="http://schemas.openxmlformats.org/officeDocument/2006/math">
                    <m:r>
                      <a:rPr lang="zh-CN" altLang="en-US" sz="2000" b="0" i="1" dirty="0">
                        <a:latin typeface="Cambria Math" panose="02040503050406030204" pitchFamily="18" charset="0"/>
                      </a:rPr>
                      <m:t>范围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𝐹𝑆𝑅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d</m:t>
                        </m:r>
                      </m:den>
                    </m:f>
                  </m:oMath>
                </a14:m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若散射光进入标准具，认为出射光分布为散射光的光谱函数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zh-CN" altLang="en-US" sz="2000" dirty="0"/>
                  <a:t>与标准具仪器函数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𝐴𝑖𝑟𝑦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r>
                  <a:rPr lang="zh-CN" altLang="en-US" sz="2000" dirty="0"/>
                  <a:t>的卷积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𝑟𝑒𝑐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+∞</m:t>
                        </m:r>
                      </m:sup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𝐴𝑖𝑟𝑦</m:t>
                        </m:r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nary>
                  </m:oMath>
                </a14:m>
                <a:r>
                  <a:rPr lang="zh-CN" altLang="en-US" sz="2000" dirty="0"/>
                  <a:t>。理论上作反卷积可以得到光谱函数。</a:t>
                </a: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sz="2000" dirty="0"/>
                  <a:t>预设使用</a:t>
                </a:r>
                <a:r>
                  <a:rPr lang="en-US" altLang="zh-CN" sz="2000" dirty="0" err="1"/>
                  <a:t>Lightmachinery</a:t>
                </a:r>
                <a:r>
                  <a:rPr lang="zh-CN" altLang="en-US" sz="2000" dirty="0"/>
                  <a:t>的</a:t>
                </a:r>
                <a:r>
                  <a:rPr lang="en-US" altLang="zh-CN" sz="2000" dirty="0"/>
                  <a:t>Silica</a:t>
                </a:r>
                <a:r>
                  <a:rPr lang="zh-CN" altLang="en-US" sz="2000" dirty="0"/>
                  <a:t>标准具搭建如图所示光路对</a:t>
                </a:r>
                <a:r>
                  <a:rPr lang="en-US" altLang="zh-CN" sz="2000" dirty="0"/>
                  <a:t>90°</a:t>
                </a:r>
                <a:r>
                  <a:rPr lang="zh-CN" altLang="en-US" sz="2000" dirty="0"/>
                  <a:t>散射光进行探测。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zh-CN" sz="2000" dirty="0"/>
              </a:p>
            </p:txBody>
          </p:sp>
        </mc:Choice>
        <mc:Fallback>
          <p:sp>
            <p:nvSpPr>
              <p:cNvPr id="12" name="内容占位符 11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857" y="1254403"/>
                <a:ext cx="7806381" cy="5250347"/>
              </a:xfrm>
              <a:blipFill rotWithShape="1">
                <a:blip r:embed="rId2"/>
                <a:stretch>
                  <a:fillRect l="-67" t="-102" r="-59" b="-8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6200" y="1316091"/>
            <a:ext cx="4176464" cy="177397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8544272" y="3164325"/>
            <a:ext cx="3341826" cy="2995992"/>
            <a:chOff x="9632505" y="1246300"/>
            <a:chExt cx="2362764" cy="2138461"/>
          </a:xfrm>
        </p:grpSpPr>
        <p:grpSp>
          <p:nvGrpSpPr>
            <p:cNvPr id="9" name="组合 8"/>
            <p:cNvGrpSpPr/>
            <p:nvPr/>
          </p:nvGrpSpPr>
          <p:grpSpPr>
            <a:xfrm rot="16200000">
              <a:off x="10423077" y="2027717"/>
              <a:ext cx="2138461" cy="575627"/>
              <a:chOff x="2818396" y="2559603"/>
              <a:chExt cx="3368691" cy="861996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2818396" y="2609353"/>
                <a:ext cx="767988" cy="72583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" name="矩形 1"/>
              <p:cNvSpPr/>
              <p:nvPr/>
            </p:nvSpPr>
            <p:spPr>
              <a:xfrm rot="5400000">
                <a:off x="5503958" y="2652060"/>
                <a:ext cx="684518" cy="68174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700" dirty="0"/>
                  <a:t>激光器</a:t>
                </a:r>
                <a:endParaRPr lang="zh-CN" altLang="en-US" sz="700" dirty="0"/>
              </a:p>
            </p:txBody>
          </p:sp>
          <p:sp>
            <p:nvSpPr>
              <p:cNvPr id="4" name="椭圆 3"/>
              <p:cNvSpPr/>
              <p:nvPr/>
            </p:nvSpPr>
            <p:spPr>
              <a:xfrm>
                <a:off x="4728483" y="2671390"/>
                <a:ext cx="72008" cy="66601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4114582" y="2559603"/>
                <a:ext cx="45720" cy="86199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 flipH="1">
                <a:off x="4800491" y="3001469"/>
                <a:ext cx="685909" cy="29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任意多边形: 形状 6"/>
              <p:cNvSpPr/>
              <p:nvPr/>
            </p:nvSpPr>
            <p:spPr>
              <a:xfrm>
                <a:off x="3297718" y="2609353"/>
                <a:ext cx="1476705" cy="774700"/>
              </a:xfrm>
              <a:custGeom>
                <a:avLst/>
                <a:gdLst>
                  <a:gd name="csX0" fmla="*/ 1402080 w 1402080"/>
                  <a:gd name="csY0" fmla="*/ 398780 h 774700"/>
                  <a:gd name="csX1" fmla="*/ 800100 w 1402080"/>
                  <a:gd name="csY1" fmla="*/ 0 h 774700"/>
                  <a:gd name="csX2" fmla="*/ 0 w 1402080"/>
                  <a:gd name="csY2" fmla="*/ 368300 h 774700"/>
                  <a:gd name="csX3" fmla="*/ 797560 w 1402080"/>
                  <a:gd name="csY3" fmla="*/ 774700 h 774700"/>
                  <a:gd name="csX4" fmla="*/ 1402080 w 1402080"/>
                  <a:gd name="csY4" fmla="*/ 398780 h 774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02080" h="774700">
                    <a:moveTo>
                      <a:pt x="1402080" y="398780"/>
                    </a:moveTo>
                    <a:lnTo>
                      <a:pt x="800100" y="0"/>
                    </a:lnTo>
                    <a:lnTo>
                      <a:pt x="0" y="368300"/>
                    </a:lnTo>
                    <a:lnTo>
                      <a:pt x="797560" y="774700"/>
                    </a:lnTo>
                    <a:lnTo>
                      <a:pt x="1402080" y="398780"/>
                    </a:lnTo>
                    <a:close/>
                  </a:path>
                </a:pathLst>
              </a:cu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 rot="10800000">
              <a:off x="9912424" y="2849351"/>
              <a:ext cx="1556546" cy="470675"/>
              <a:chOff x="3380704" y="2565705"/>
              <a:chExt cx="2105696" cy="861996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4728483" y="2671390"/>
                <a:ext cx="72008" cy="66601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4157542" y="2565705"/>
                <a:ext cx="45720" cy="861996"/>
              </a:xfrm>
              <a:prstGeom prst="ellips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 flipH="1">
                <a:off x="4800491" y="3001469"/>
                <a:ext cx="685909" cy="292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任意多边形: 形状 23"/>
              <p:cNvSpPr/>
              <p:nvPr/>
            </p:nvSpPr>
            <p:spPr>
              <a:xfrm>
                <a:off x="3380704" y="2609353"/>
                <a:ext cx="1393717" cy="774700"/>
              </a:xfrm>
              <a:custGeom>
                <a:avLst/>
                <a:gdLst>
                  <a:gd name="csX0" fmla="*/ 1402080 w 1402080"/>
                  <a:gd name="csY0" fmla="*/ 398780 h 774700"/>
                  <a:gd name="csX1" fmla="*/ 800100 w 1402080"/>
                  <a:gd name="csY1" fmla="*/ 0 h 774700"/>
                  <a:gd name="csX2" fmla="*/ 0 w 1402080"/>
                  <a:gd name="csY2" fmla="*/ 368300 h 774700"/>
                  <a:gd name="csX3" fmla="*/ 797560 w 1402080"/>
                  <a:gd name="csY3" fmla="*/ 774700 h 774700"/>
                  <a:gd name="csX4" fmla="*/ 1402080 w 1402080"/>
                  <a:gd name="csY4" fmla="*/ 398780 h 774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402080" h="774700">
                    <a:moveTo>
                      <a:pt x="1402080" y="398780"/>
                    </a:moveTo>
                    <a:lnTo>
                      <a:pt x="800100" y="0"/>
                    </a:lnTo>
                    <a:lnTo>
                      <a:pt x="0" y="368300"/>
                    </a:lnTo>
                    <a:lnTo>
                      <a:pt x="797560" y="774700"/>
                    </a:lnTo>
                    <a:lnTo>
                      <a:pt x="1402080" y="398780"/>
                    </a:lnTo>
                    <a:close/>
                  </a:path>
                </a:pathLst>
              </a:cu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9776303" y="2937902"/>
              <a:ext cx="288032" cy="33737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9912424" y="1908810"/>
              <a:ext cx="0" cy="11716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 flipV="1">
              <a:off x="9696401" y="2443328"/>
              <a:ext cx="432046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 flipV="1">
              <a:off x="9696401" y="2349177"/>
              <a:ext cx="432046" cy="457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 rot="16200000">
              <a:off x="9905807" y="1867422"/>
              <a:ext cx="29023" cy="575627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9693226" y="1610102"/>
              <a:ext cx="438396" cy="29710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 err="1"/>
                <a:t>iCCD</a:t>
              </a:r>
              <a:endParaRPr lang="zh-CN" altLang="en-US" sz="700" dirty="0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10099677" y="2323887"/>
              <a:ext cx="41549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600" dirty="0"/>
                <a:t>标准具</a:t>
              </a:r>
              <a:endParaRPr lang="zh-CN" altLang="en-US" sz="600" dirty="0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1682363" y="3056361"/>
              <a:ext cx="312906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500" dirty="0"/>
                <a:t>样品</a:t>
              </a:r>
              <a:endParaRPr lang="zh-CN" altLang="en-US" sz="500" dirty="0"/>
            </a:p>
          </p:txBody>
        </p:sp>
      </p:grpSp>
      <p:pic>
        <p:nvPicPr>
          <p:cNvPr id="48" name="图片 47"/>
          <p:cNvPicPr/>
          <p:nvPr/>
        </p:nvPicPr>
        <p:blipFill>
          <a:blip r:embed="rId4"/>
          <a:srcRect l="3380" t="7952" r="28714" b="12932"/>
          <a:stretch>
            <a:fillRect/>
          </a:stretch>
        </p:blipFill>
        <p:spPr>
          <a:xfrm>
            <a:off x="3162590" y="2420888"/>
            <a:ext cx="1762727" cy="451768"/>
          </a:xfrm>
          <a:prstGeom prst="rect">
            <a:avLst/>
          </a:prstGeom>
        </p:spPr>
      </p:pic>
      <p:pic>
        <p:nvPicPr>
          <p:cNvPr id="50" name="图片 49"/>
          <p:cNvPicPr/>
          <p:nvPr/>
        </p:nvPicPr>
        <p:blipFill>
          <a:blip r:embed="rId5"/>
          <a:srcRect l="3988" t="4372" r="2516" b="6873"/>
          <a:stretch>
            <a:fillRect/>
          </a:stretch>
        </p:blipFill>
        <p:spPr>
          <a:xfrm>
            <a:off x="201347" y="5734026"/>
            <a:ext cx="3950437" cy="909275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9041" y="5776376"/>
            <a:ext cx="749089" cy="76788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OPCH-44E06C3073AB993ED521E87E97D34A547D93DE2C34D5D6D77543C882D827C964" val="[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9.20ha</Template>
  <TotalTime>0</TotalTime>
  <Words>849</Words>
  <Application>WPS 演示</Application>
  <PresentationFormat>宽屏</PresentationFormat>
  <Paragraphs>31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华文中宋</vt:lpstr>
      <vt:lpstr>Cambria Math</vt:lpstr>
      <vt:lpstr>-apple-system</vt:lpstr>
      <vt:lpstr>AMGDT</vt:lpstr>
      <vt:lpstr>等线 Light</vt:lpstr>
      <vt:lpstr>微软雅黑</vt:lpstr>
      <vt:lpstr>Arial Unicode MS</vt:lpstr>
      <vt:lpstr>Calibri Light</vt:lpstr>
      <vt:lpstr>等线</vt:lpstr>
      <vt:lpstr>Calibri</vt:lpstr>
      <vt:lpstr>默认设计模板</vt:lpstr>
      <vt:lpstr>使用标准具测量布里渊光谱</vt:lpstr>
      <vt:lpstr>标准具</vt:lpstr>
      <vt:lpstr>理论基础与方案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 贺</dc:creator>
  <cp:lastModifiedBy>张哲涵</cp:lastModifiedBy>
  <cp:revision>5</cp:revision>
  <cp:lastPrinted>2113-01-01T00:00:00Z</cp:lastPrinted>
  <dcterms:created xsi:type="dcterms:W3CDTF">2026-09-24T02:20:00Z</dcterms:created>
  <dcterms:modified xsi:type="dcterms:W3CDTF">2026-10-07T14:04:39Z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7BDD8FBA4DF94140A5E34D4F45DD0620_13</vt:lpwstr>
  </property>
  <property fmtid="{D5CDD505-2E9C-101B-9397-08002B2CF9AE}" pid="4" name="KSOProductBuildVer">
    <vt:lpwstr>2052-12.1.0.28488</vt:lpwstr>
  </property>
</Properties>
</file>