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271" r:id="rId4"/>
    <p:sldId id="272" r:id="rId6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32132CB-6496-4990-8280-8FB5CE41E5D5}">
          <p14:sldIdLst>
            <p14:sldId id="258"/>
          </p14:sldIdLst>
        </p14:section>
        <p14:section name="无标题节" id="{943D4C5D-4DB9-4B65-8839-CF3D5717A424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howGuides="1">
      <p:cViewPr>
        <p:scale>
          <a:sx n="66" d="100"/>
          <a:sy n="66" d="100"/>
        </p:scale>
        <p:origin x="1282" y="5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1636D-AAC5-4849-957E-B9FE1ECC7E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2D630-D7B4-437C-AAF2-A4944786EB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D630-D7B4-437C-AAF2-A4944786E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D630-D7B4-437C-AAF2-A4944786E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B729-98E4-45C8-8056-4A2E152BFB5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0A9C-7B46-4957-BFE6-1F507F26FF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CB2D8-1267-4C19-809C-09C5DF8F1A3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B1-4117-4C75-9EBC-8E46A5A9CA8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7281-57C8-46B7-9E15-9024953134D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1534-F019-4C28-A7E7-CA40FE872C0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7EE72-DD98-41E0-8A6D-41B14ACE57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EB76-FE05-42A1-83E5-C13FB43DBCB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C0644-D486-4D60-9B3C-97F8B2A6837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37F7-9725-41FB-8C7B-98AE2286E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C1FE-659A-47A6-9E9F-02B6D8A8F58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E7B41-4038-4FD6-8B11-74990DAAD65C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839416" y="2362201"/>
            <a:ext cx="10297144" cy="1470025"/>
          </a:xfrm>
        </p:spPr>
        <p:txBody>
          <a:bodyPr anchor="ctr">
            <a:normAutofit/>
          </a:bodyPr>
          <a:lstStyle/>
          <a:p>
            <a:r>
              <a:rPr lang="zh-CN" altLang="en-US" sz="4800" b="1" dirty="0"/>
              <a:t>标准具测量布里渊光谱的数值模拟</a:t>
            </a:r>
            <a:endParaRPr lang="zh-CN" altLang="zh-CN" sz="36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5181600"/>
            <a:ext cx="6400800" cy="990600"/>
          </a:xfrm>
        </p:spPr>
        <p:txBody>
          <a:bodyPr/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10.8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618532"/>
            <a:ext cx="4773599" cy="524127"/>
          </a:xfrm>
          <a:prstGeom prst="rect">
            <a:avLst/>
          </a:prstGeom>
        </p:spPr>
      </p:pic>
      <p:sp>
        <p:nvSpPr>
          <p:cNvPr id="7179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5029200" cy="563562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模拟框架</a:t>
            </a:r>
            <a:endParaRPr lang="zh-CN" altLang="zh-CN" sz="4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258928" y="1376825"/>
            <a:ext cx="8109014" cy="509861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/>
              <a:t>对使用标准具测量水的布里渊散射的过程做数值模拟：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/>
              <a:t>激光入射水→ 搜集散射光进入 </a:t>
            </a:r>
            <a:r>
              <a:rPr lang="en-US" altLang="zh-CN" sz="2000" dirty="0"/>
              <a:t>Fabry-Perot </a:t>
            </a:r>
            <a:r>
              <a:rPr lang="zh-CN" altLang="en-US" sz="2000" dirty="0"/>
              <a:t>标准具→ 透镜成像到相机，记录环形条纹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b="1" dirty="0"/>
              <a:t>散射光的谱函数</a:t>
            </a:r>
            <a:r>
              <a:rPr lang="zh-CN" altLang="en-US" sz="2000" dirty="0"/>
              <a:t>：参考</a:t>
            </a:r>
            <a:r>
              <a:rPr lang="en-US" altLang="zh-CN" sz="2000" dirty="0"/>
              <a:t>IAPWS-95</a:t>
            </a:r>
            <a:r>
              <a:rPr lang="zh-CN" altLang="en-US" sz="2000" dirty="0"/>
              <a:t>标准给出洛伦兹三峰，与激光</a:t>
            </a:r>
            <a:r>
              <a:rPr lang="en-US" altLang="zh-CN" sz="2000" dirty="0"/>
              <a:t>Gauss</a:t>
            </a:r>
            <a:r>
              <a:rPr lang="zh-CN" altLang="en-US" sz="2000" dirty="0"/>
              <a:t>谱卷积得到</a:t>
            </a:r>
            <a:r>
              <a:rPr lang="en-US" altLang="zh-CN" sz="2000" dirty="0" err="1"/>
              <a:t>voigt</a:t>
            </a:r>
            <a:r>
              <a:rPr lang="zh-CN" altLang="en-US" sz="2000" dirty="0"/>
              <a:t>线型。考虑有限收光角后，在</a:t>
            </a:r>
            <a:r>
              <a:rPr lang="en-US" altLang="zh-CN" sz="2000" dirty="0"/>
              <a:t>FSR</a:t>
            </a:r>
            <a:r>
              <a:rPr lang="zh-CN" altLang="en-US" sz="2000" dirty="0"/>
              <a:t>上折叠。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b="1" dirty="0"/>
              <a:t>标准具响应</a:t>
            </a:r>
            <a:r>
              <a:rPr lang="zh-CN" altLang="en-US" sz="2000" dirty="0"/>
              <a:t> ：透过函数为</a:t>
            </a:r>
            <a:r>
              <a:rPr lang="en-US" altLang="zh-CN" sz="2000" dirty="0"/>
              <a:t>Airy</a:t>
            </a:r>
            <a:r>
              <a:rPr lang="zh-CN" altLang="en-US" sz="2000" dirty="0"/>
              <a:t>函数                                           </a:t>
            </a:r>
            <a:r>
              <a:rPr lang="en-US" altLang="zh-CN" sz="2000" dirty="0"/>
              <a:t>,</a:t>
            </a:r>
            <a:r>
              <a:rPr lang="zh-CN" altLang="en-US" sz="2000" dirty="0"/>
              <a:t>其中失谐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                                                                                  </a:t>
            </a:r>
            <a:r>
              <a:rPr lang="zh-CN" altLang="en-US" sz="2000" dirty="0"/>
              <a:t>。计算透射矩阵后得到出射谱。计入相机成像噪声后得到结果。</a:t>
            </a:r>
            <a:endParaRPr lang="en-US" altLang="zh-CN" sz="20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b="1" dirty="0"/>
              <a:t>反演</a:t>
            </a:r>
            <a:r>
              <a:rPr lang="zh-CN" altLang="en-US" sz="2000" dirty="0"/>
              <a:t>：参数化拟合；非参数反演</a:t>
            </a:r>
            <a:r>
              <a:rPr lang="en-US" altLang="zh-CN" sz="2000" dirty="0"/>
              <a:t>:</a:t>
            </a:r>
            <a:r>
              <a:rPr lang="zh-CN" altLang="en-US" sz="2000" dirty="0"/>
              <a:t>非负 </a:t>
            </a:r>
            <a:r>
              <a:rPr lang="en-US" altLang="zh-CN" sz="2000" dirty="0"/>
              <a:t>Tikhonov + NNLS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endParaRPr lang="zh-CN" altLang="en-US" sz="2000" dirty="0"/>
          </a:p>
        </p:txBody>
      </p:sp>
      <p:grpSp>
        <p:nvGrpSpPr>
          <p:cNvPr id="2" name="组合 1"/>
          <p:cNvGrpSpPr/>
          <p:nvPr/>
        </p:nvGrpSpPr>
        <p:grpSpPr>
          <a:xfrm>
            <a:off x="8663255" y="1383969"/>
            <a:ext cx="3269818" cy="2880320"/>
            <a:chOff x="9632505" y="1246300"/>
            <a:chExt cx="2362764" cy="2138461"/>
          </a:xfrm>
        </p:grpSpPr>
        <p:grpSp>
          <p:nvGrpSpPr>
            <p:cNvPr id="4" name="组合 3"/>
            <p:cNvGrpSpPr/>
            <p:nvPr/>
          </p:nvGrpSpPr>
          <p:grpSpPr>
            <a:xfrm rot="16200000">
              <a:off x="10423077" y="2027717"/>
              <a:ext cx="2138461" cy="575627"/>
              <a:chOff x="2818396" y="2559603"/>
              <a:chExt cx="3368691" cy="861996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2818396" y="2609353"/>
                <a:ext cx="767988" cy="72583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" name="矩形 23"/>
              <p:cNvSpPr/>
              <p:nvPr/>
            </p:nvSpPr>
            <p:spPr>
              <a:xfrm rot="5400000">
                <a:off x="5503958" y="2652060"/>
                <a:ext cx="684518" cy="6817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700" dirty="0"/>
                  <a:t>激光器</a:t>
                </a:r>
                <a:endParaRPr lang="zh-CN" altLang="en-US" sz="700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4728483" y="2671390"/>
                <a:ext cx="72008" cy="66601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4114582" y="2559603"/>
                <a:ext cx="45720" cy="86199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 flipH="1">
                <a:off x="4800491" y="3001469"/>
                <a:ext cx="685909" cy="29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任意多边形: 形状 27"/>
              <p:cNvSpPr/>
              <p:nvPr/>
            </p:nvSpPr>
            <p:spPr>
              <a:xfrm>
                <a:off x="3297718" y="2609353"/>
                <a:ext cx="1476705" cy="774700"/>
              </a:xfrm>
              <a:custGeom>
                <a:avLst/>
                <a:gdLst>
                  <a:gd name="csX0" fmla="*/ 1402080 w 1402080"/>
                  <a:gd name="csY0" fmla="*/ 398780 h 774700"/>
                  <a:gd name="csX1" fmla="*/ 800100 w 1402080"/>
                  <a:gd name="csY1" fmla="*/ 0 h 774700"/>
                  <a:gd name="csX2" fmla="*/ 0 w 1402080"/>
                  <a:gd name="csY2" fmla="*/ 368300 h 774700"/>
                  <a:gd name="csX3" fmla="*/ 797560 w 1402080"/>
                  <a:gd name="csY3" fmla="*/ 774700 h 774700"/>
                  <a:gd name="csX4" fmla="*/ 1402080 w 1402080"/>
                  <a:gd name="csY4" fmla="*/ 398780 h 774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02080" h="774700">
                    <a:moveTo>
                      <a:pt x="1402080" y="398780"/>
                    </a:moveTo>
                    <a:lnTo>
                      <a:pt x="800100" y="0"/>
                    </a:lnTo>
                    <a:lnTo>
                      <a:pt x="0" y="368300"/>
                    </a:lnTo>
                    <a:lnTo>
                      <a:pt x="797560" y="774700"/>
                    </a:lnTo>
                    <a:lnTo>
                      <a:pt x="1402080" y="398780"/>
                    </a:lnTo>
                    <a:close/>
                  </a:path>
                </a:pathLst>
              </a:cu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 rot="10800000">
              <a:off x="9912424" y="2849351"/>
              <a:ext cx="1556546" cy="470675"/>
              <a:chOff x="3380704" y="2565705"/>
              <a:chExt cx="2105696" cy="861996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4728483" y="2671390"/>
                <a:ext cx="72008" cy="66601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4157542" y="2565705"/>
                <a:ext cx="45720" cy="86199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 flipH="1">
                <a:off x="4800491" y="3001469"/>
                <a:ext cx="685909" cy="29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任意多边形: 形状 21"/>
              <p:cNvSpPr/>
              <p:nvPr/>
            </p:nvSpPr>
            <p:spPr>
              <a:xfrm>
                <a:off x="3380704" y="2609353"/>
                <a:ext cx="1393717" cy="774700"/>
              </a:xfrm>
              <a:custGeom>
                <a:avLst/>
                <a:gdLst>
                  <a:gd name="csX0" fmla="*/ 1402080 w 1402080"/>
                  <a:gd name="csY0" fmla="*/ 398780 h 774700"/>
                  <a:gd name="csX1" fmla="*/ 800100 w 1402080"/>
                  <a:gd name="csY1" fmla="*/ 0 h 774700"/>
                  <a:gd name="csX2" fmla="*/ 0 w 1402080"/>
                  <a:gd name="csY2" fmla="*/ 368300 h 774700"/>
                  <a:gd name="csX3" fmla="*/ 797560 w 1402080"/>
                  <a:gd name="csY3" fmla="*/ 774700 h 774700"/>
                  <a:gd name="csX4" fmla="*/ 1402080 w 1402080"/>
                  <a:gd name="csY4" fmla="*/ 398780 h 774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02080" h="774700">
                    <a:moveTo>
                      <a:pt x="1402080" y="398780"/>
                    </a:moveTo>
                    <a:lnTo>
                      <a:pt x="800100" y="0"/>
                    </a:lnTo>
                    <a:lnTo>
                      <a:pt x="0" y="368300"/>
                    </a:lnTo>
                    <a:lnTo>
                      <a:pt x="797560" y="774700"/>
                    </a:lnTo>
                    <a:lnTo>
                      <a:pt x="1402080" y="398780"/>
                    </a:lnTo>
                    <a:close/>
                  </a:path>
                </a:pathLst>
              </a:cu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cxnSp>
          <p:nvCxnSpPr>
            <p:cNvPr id="8" name="直接连接符 7"/>
            <p:cNvCxnSpPr/>
            <p:nvPr/>
          </p:nvCxnSpPr>
          <p:spPr>
            <a:xfrm>
              <a:off x="9776303" y="2937902"/>
              <a:ext cx="288032" cy="33737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9912424" y="1908810"/>
              <a:ext cx="0" cy="11716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 flipV="1">
              <a:off x="9696401" y="2443328"/>
              <a:ext cx="432046" cy="457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 flipV="1">
              <a:off x="9696401" y="2349177"/>
              <a:ext cx="432046" cy="457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 rot="16200000">
              <a:off x="9905807" y="1867422"/>
              <a:ext cx="29023" cy="57562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9693226" y="1610102"/>
              <a:ext cx="438396" cy="29710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 err="1"/>
                <a:t>iCCD</a:t>
              </a:r>
              <a:endParaRPr lang="zh-CN" altLang="en-US" sz="7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099677" y="2323887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dirty="0"/>
                <a:t>标准具</a:t>
              </a:r>
              <a:endParaRPr lang="zh-CN" altLang="en-US" sz="600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682363" y="3056361"/>
              <a:ext cx="31290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00" dirty="0"/>
                <a:t>样品</a:t>
              </a:r>
              <a:endParaRPr lang="zh-CN" altLang="en-US" sz="500" dirty="0"/>
            </a:p>
          </p:txBody>
        </p:sp>
      </p:grpSp>
      <p:pic>
        <p:nvPicPr>
          <p:cNvPr id="30" name="图片 29"/>
          <p:cNvPicPr/>
          <p:nvPr/>
        </p:nvPicPr>
        <p:blipFill>
          <a:blip r:embed="rId3"/>
          <a:srcRect l="6197" t="14910" r="5529" b="10971"/>
          <a:stretch>
            <a:fillRect/>
          </a:stretch>
        </p:blipFill>
        <p:spPr>
          <a:xfrm>
            <a:off x="4295799" y="3239468"/>
            <a:ext cx="1934921" cy="4801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9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5029200" cy="563562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结果</a:t>
            </a:r>
            <a:endParaRPr lang="zh-CN" altLang="zh-CN" sz="4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11"/>
          <a:stretch>
            <a:fillRect/>
          </a:stretch>
        </p:blipFill>
        <p:spPr>
          <a:xfrm>
            <a:off x="6560330" y="1229686"/>
            <a:ext cx="2848038" cy="2373907"/>
          </a:xfrm>
          <a:prstGeom prst="rect">
            <a:avLst/>
          </a:prstGeom>
          <a:ln>
            <a:solidFill>
              <a:prstClr val="white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303585"/>
            <a:ext cx="6159152" cy="5337932"/>
          </a:xfrm>
          <a:prstGeom prst="rect">
            <a:avLst/>
          </a:prstGeom>
        </p:spPr>
      </p:pic>
      <p:pic>
        <p:nvPicPr>
          <p:cNvPr id="11" name="内容占位符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1" t="-8779" r="-522" b="-4210"/>
          <a:stretch>
            <a:fillRect/>
          </a:stretch>
        </p:blipFill>
        <p:spPr>
          <a:xfrm>
            <a:off x="9424327" y="1231667"/>
            <a:ext cx="2625471" cy="2373907"/>
          </a:xfrm>
          <a:prstGeom prst="rect">
            <a:avLst/>
          </a:prstGeom>
          <a:ln>
            <a:solidFill>
              <a:prstClr val="white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556" y="4365104"/>
            <a:ext cx="5310187" cy="141446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OPCH-44E06C3073AB993ED521E87E97D34A547D93DE2C34D5D6D77543C882D827C964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9.24ha</Template>
  <TotalTime>0</TotalTime>
  <Words>386</Words>
  <Application>WPS 演示</Application>
  <PresentationFormat>宽屏</PresentationFormat>
  <Paragraphs>25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华文中宋</vt:lpstr>
      <vt:lpstr>等线 Light</vt:lpstr>
      <vt:lpstr>微软雅黑</vt:lpstr>
      <vt:lpstr>Arial Unicode MS</vt:lpstr>
      <vt:lpstr>Calibri Light</vt:lpstr>
      <vt:lpstr>等线</vt:lpstr>
      <vt:lpstr>Calibri</vt:lpstr>
      <vt:lpstr>默认设计模板</vt:lpstr>
      <vt:lpstr>标准具测量布里渊光谱的数值模拟</vt:lpstr>
      <vt:lpstr>模拟框架</vt:lpstr>
      <vt:lpstr>结果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 贺</dc:creator>
  <cp:lastModifiedBy>张哲涵</cp:lastModifiedBy>
  <cp:revision>3</cp:revision>
  <cp:lastPrinted>2113-01-01T00:00:00Z</cp:lastPrinted>
  <dcterms:created xsi:type="dcterms:W3CDTF">2026-10-08T10:10:00Z</dcterms:created>
  <dcterms:modified xsi:type="dcterms:W3CDTF">2026-10-09T07:08:05Z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F90CB8B15A134207896DA4A42C10BBD1_13</vt:lpwstr>
  </property>
  <property fmtid="{D5CDD505-2E9C-101B-9397-08002B2CF9AE}" pid="4" name="KSOProductBuildVer">
    <vt:lpwstr>2052-12.1.0.28488</vt:lpwstr>
  </property>
</Properties>
</file>