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58" r:id="rId2"/>
    <p:sldId id="268" r:id="rId3"/>
    <p:sldId id="271" r:id="rId4"/>
    <p:sldId id="267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732132CB-6496-4990-8280-8FB5CE41E5D5}">
          <p14:sldIdLst>
            <p14:sldId id="258"/>
          </p14:sldIdLst>
        </p14:section>
        <p14:section name="无标题节" id="{943D4C5D-4DB9-4B65-8839-CF3D5717A424}">
          <p14:sldIdLst>
            <p14:sldId id="268"/>
            <p14:sldId id="271"/>
            <p14:sldId id="26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>
      <p:cViewPr varScale="1">
        <p:scale>
          <a:sx n="90" d="100"/>
          <a:sy n="90" d="100"/>
        </p:scale>
        <p:origin x="158" y="6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41636D-AAC5-4849-957E-B9FE1ECC7ED7}" type="datetimeFigureOut">
              <a:rPr lang="zh-CN" altLang="en-US" smtClean="0"/>
              <a:t>2026/9/19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B2D630-D7B4-437C-AAF2-A4944786EB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24422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0F9F9-5C2F-9C85-394C-C771DAA93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3DB08D7-43B7-0968-E4D9-AE7263C046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D0D0876-5AA4-564A-82A1-D54368B0EA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2DCB80B-2FAC-342A-FB7C-2FD3E903D5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B2D630-D7B4-437C-AAF2-A4944786EB79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68542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D0C04C-9B90-E48F-DB17-C15CE03FB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80C8CD6-7A95-313D-59D3-11BC39B420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1A0FAB3-5978-6751-0BA9-D7A71D09B0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C51590-D2DE-34EE-9113-0A9CA6F476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B2D630-D7B4-437C-AAF2-A4944786EB7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78571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FC0BB0-F3DF-9121-E65B-9A0BE8872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52C7669-CE97-BF5B-0C74-1B61841979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5AFC1EC-0A40-BB9C-F712-70FDB32B73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A1A8DC8-3320-535B-C614-371C97CAC4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B2D630-D7B4-437C-AAF2-A4944786EB7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41525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FB729-98E4-45C8-8056-4A2E152BFB59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202082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00A9C-7B46-4957-BFE6-1F507F26FF94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8813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CB2D8-1267-4C19-809C-09C5DF8F1A39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49499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5FBB1-4117-4C75-9EBC-8E46A5A9CA85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24347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27281-57C8-46B7-9E15-9024953134D5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36471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31534-F019-4C28-A7E7-CA40FE872C00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998401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7EE72-DD98-41E0-8A6D-41B14ACE572B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555899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BEB76-FE05-42A1-83E5-C13FB43DBCBD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155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C0644-D486-4D60-9B3C-97F8B2A68371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871385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F37F7-9725-41FB-8C7B-98AE2286EC33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63667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3C1FE-659A-47A6-9E9F-02B6D8A8F58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541448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3E7B41-4038-4FD6-8B11-74990DAAD65C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13758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gif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://dx.doi.org/10.1088/1612-2011/13/5/055701" TargetMode="External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hyperlink" Target="https://doi.org/10.1364/OL.557682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5" name="Rectangle 11">
            <a:extLst>
              <a:ext uri="{FF2B5EF4-FFF2-40B4-BE49-F238E27FC236}">
                <a16:creationId xmlns:a16="http://schemas.microsoft.com/office/drawing/2014/main" id="{36B8EEF3-B27B-4D67-A889-CF3A543DECF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286000" y="2362201"/>
            <a:ext cx="8001000" cy="1470025"/>
          </a:xfrm>
        </p:spPr>
        <p:txBody>
          <a:bodyPr anchor="ctr">
            <a:normAutofit/>
          </a:bodyPr>
          <a:lstStyle/>
          <a:p>
            <a:r>
              <a:rPr lang="zh-CN" altLang="en-US" sz="4800" b="1" dirty="0"/>
              <a:t>布里渊散射光谱的测量</a:t>
            </a:r>
            <a:endParaRPr lang="zh-CN" altLang="zh-CN" sz="3600" dirty="0">
              <a:solidFill>
                <a:schemeClr val="bg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6156" name="Rectangle 12">
            <a:extLst>
              <a:ext uri="{FF2B5EF4-FFF2-40B4-BE49-F238E27FC236}">
                <a16:creationId xmlns:a16="http://schemas.microsoft.com/office/drawing/2014/main" id="{718CB3BE-0FC3-47CB-86D0-A75E9FCF873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895600" y="5181600"/>
            <a:ext cx="6400800" cy="990600"/>
          </a:xfrm>
        </p:spPr>
        <p:txBody>
          <a:bodyPr/>
          <a:lstStyle/>
          <a:p>
            <a:r>
              <a:rPr lang="en-US" altLang="zh-CN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9.20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DA493D-D38F-89E7-8692-06B13AAA5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9" name="Rectangle 11">
            <a:extLst>
              <a:ext uri="{FF2B5EF4-FFF2-40B4-BE49-F238E27FC236}">
                <a16:creationId xmlns:a16="http://schemas.microsoft.com/office/drawing/2014/main" id="{2AA24768-206C-8B9A-8B9F-03E4D1B94E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5029200" cy="563562"/>
          </a:xfrm>
        </p:spPr>
        <p:txBody>
          <a:bodyPr>
            <a:normAutofit fontScale="90000"/>
          </a:bodyPr>
          <a:lstStyle/>
          <a:p>
            <a:r>
              <a:rPr lang="en-US" altLang="zh-CN" sz="40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FP</a:t>
            </a:r>
            <a:r>
              <a:rPr lang="zh-CN" altLang="en-US" sz="40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干涉仪</a:t>
            </a:r>
            <a:endParaRPr lang="zh-CN" altLang="zh-CN" sz="4000" dirty="0">
              <a:solidFill>
                <a:schemeClr val="bg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内容占位符 11">
                <a:extLst>
                  <a:ext uri="{FF2B5EF4-FFF2-40B4-BE49-F238E27FC236}">
                    <a16:creationId xmlns:a16="http://schemas.microsoft.com/office/drawing/2014/main" id="{53B75E95-4F0E-816F-4989-476932E11F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1245" y="1412776"/>
                <a:ext cx="9595155" cy="4351338"/>
              </a:xfrm>
            </p:spPr>
            <p:txBody>
              <a:bodyPr>
                <a:normAutofit fontScale="85000" lnSpcReduction="10000"/>
              </a:bodyPr>
              <a:lstStyle/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altLang="zh-CN" sz="2200" dirty="0"/>
                  <a:t>Thorlabs</a:t>
                </a:r>
                <a:r>
                  <a:rPr lang="zh-CN" altLang="en-US" sz="2200" dirty="0"/>
                  <a:t>的</a:t>
                </a:r>
                <a:r>
                  <a:rPr lang="en-US" altLang="zh-CN" sz="2200" dirty="0"/>
                  <a:t>FP</a:t>
                </a:r>
                <a:r>
                  <a:rPr lang="zh-CN" altLang="en-US" sz="2200" dirty="0"/>
                  <a:t>干涉仪，其自由光谱范围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𝜈</m:t>
                        </m:r>
                      </m:e>
                      <m:sub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𝐹𝑆𝑅</m:t>
                        </m:r>
                      </m:sub>
                    </m:sSub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𝜈</m:t>
                        </m:r>
                      </m:e>
                      <m:sub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 00</m:t>
                        </m:r>
                      </m:sub>
                    </m:sSub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𝜈</m:t>
                        </m:r>
                      </m:e>
                      <m:sub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+1 00</m:t>
                        </m:r>
                      </m:sub>
                    </m:sSub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  <m:r>
                      <a:rPr lang="zh-CN" altLang="en-US" sz="2200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sz="2200" dirty="0"/>
                  <a:t>精细度</a:t>
                </a:r>
                <a14:m>
                  <m:oMath xmlns:m="http://schemas.openxmlformats.org/officeDocument/2006/math"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  <m:rad>
                          <m:radPr>
                            <m:degHide m:val="on"/>
                            <m:ctrlPr>
                              <a:rPr lang="en-US" altLang="zh-CN" sz="22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2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rad>
                      </m:num>
                      <m:den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2(1−</m:t>
                        </m:r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zh-CN" altLang="en-US" sz="2200" i="1">
                        <a:latin typeface="Cambria Math" panose="02040503050406030204" pitchFamily="18" charset="0"/>
                      </a:rPr>
                      <m:t>。</m:t>
                    </m:r>
                  </m:oMath>
                </a14:m>
                <a:endParaRPr lang="en-US" altLang="zh-CN" sz="2200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zh-CN" altLang="en-US" sz="2200" dirty="0"/>
                  <a:t>利用压电传感器调节腔的长度，调谐透过频率。透射光强度通过光电二极管测量，经</a:t>
                </a:r>
                <a:r>
                  <a:rPr lang="en-US" altLang="zh-CN" sz="2200" dirty="0"/>
                  <a:t>SA201B</a:t>
                </a:r>
                <a:r>
                  <a:rPr lang="zh-CN" altLang="en-US" sz="2200" dirty="0"/>
                  <a:t>控制器放大，由示波器显示或数据采集卡记录。</a:t>
                </a:r>
                <a:endParaRPr lang="en-US" altLang="zh-CN" sz="2200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zh-CN" altLang="en-US" sz="2200" dirty="0"/>
                  <a:t>使用</a:t>
                </a:r>
                <a:r>
                  <a:rPr lang="en-US" altLang="zh-CN" sz="2200" dirty="0" err="1"/>
                  <a:t>fpi</a:t>
                </a:r>
                <a:r>
                  <a:rPr lang="zh-CN" altLang="en-US" sz="2200" dirty="0"/>
                  <a:t>自带的光电二极管探测极限为</a:t>
                </a:r>
                <a:r>
                  <a:rPr lang="en-US" altLang="zh-CN" sz="2200" dirty="0"/>
                  <a:t>50</a:t>
                </a:r>
                <a14:m>
                  <m:oMath xmlns:m="http://schemas.openxmlformats.org/officeDocument/2006/math">
                    <m:r>
                      <a:rPr lang="en-US" altLang="zh-CN" sz="2200" i="1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altLang="zh-CN" sz="2200" dirty="0"/>
                  <a:t>W</a:t>
                </a:r>
                <a:r>
                  <a:rPr lang="zh-CN" altLang="en-US" sz="2200" dirty="0"/>
                  <a:t>。取激光功率</a:t>
                </a:r>
                <a:r>
                  <a:rPr lang="en-US" altLang="zh-CN" sz="2200" dirty="0"/>
                  <a:t>1mW</a:t>
                </a:r>
                <a:r>
                  <a:rPr lang="zh-CN" altLang="en-US" sz="2200" dirty="0"/>
                  <a:t>，收集散射光比例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−8</m:t>
                        </m:r>
                      </m:sup>
                    </m:sSup>
                  </m:oMath>
                </a14:m>
                <a:r>
                  <a:rPr lang="zh-CN" altLang="en-US" sz="2200" dirty="0"/>
                  <a:t>，</a:t>
                </a:r>
                <a:r>
                  <a:rPr lang="en-US" altLang="zh-CN" sz="2200" dirty="0"/>
                  <a:t>FPI</a:t>
                </a:r>
                <a:r>
                  <a:rPr lang="zh-CN" altLang="en-US" sz="2200" dirty="0"/>
                  <a:t>透过率</a:t>
                </a:r>
                <a:r>
                  <a:rPr lang="en-US" altLang="zh-CN" sz="2200" dirty="0"/>
                  <a:t>10</a:t>
                </a:r>
                <a:r>
                  <a:rPr lang="zh-CN" altLang="en-US" sz="2200" dirty="0"/>
                  <a:t>％，认为待测信号在</a:t>
                </a:r>
                <a:r>
                  <a:rPr lang="en-US" altLang="zh-CN" sz="2200" dirty="0"/>
                  <a:t>1pW</a:t>
                </a:r>
                <a:r>
                  <a:rPr lang="zh-CN" altLang="en-US" sz="2200" dirty="0"/>
                  <a:t>量级。</a:t>
                </a:r>
                <a:endParaRPr lang="en-US" altLang="zh-CN" sz="2200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zh-CN" altLang="en-US" sz="2200" dirty="0"/>
                  <a:t>代购需约</a:t>
                </a:r>
                <a:r>
                  <a:rPr lang="en-US" altLang="zh-CN" sz="2200" dirty="0"/>
                  <a:t>4w6</a:t>
                </a:r>
                <a:r>
                  <a:rPr lang="zh-CN" altLang="en-US" sz="2200" dirty="0"/>
                  <a:t>。</a:t>
                </a:r>
                <a:endParaRPr lang="en-US" altLang="zh-CN" sz="2200" dirty="0"/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altLang="zh-CN" sz="2000" dirty="0"/>
              </a:p>
              <a:p>
                <a:pPr marL="0" indent="0">
                  <a:buNone/>
                </a:pPr>
                <a:endParaRPr lang="en-US" altLang="zh-CN" sz="2000" dirty="0"/>
              </a:p>
              <a:p>
                <a:pPr marL="0" indent="0">
                  <a:buNone/>
                </a:pPr>
                <a:endParaRPr lang="zh-CN" altLang="en-US" sz="2400" dirty="0"/>
              </a:p>
            </p:txBody>
          </p:sp>
        </mc:Choice>
        <mc:Fallback xmlns="">
          <p:sp>
            <p:nvSpPr>
              <p:cNvPr id="12" name="内容占位符 11">
                <a:extLst>
                  <a:ext uri="{FF2B5EF4-FFF2-40B4-BE49-F238E27FC236}">
                    <a16:creationId xmlns:a16="http://schemas.microsoft.com/office/drawing/2014/main" id="{53B75E95-4F0E-816F-4989-476932E11F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1245" y="1412776"/>
                <a:ext cx="9595155" cy="4351338"/>
              </a:xfrm>
              <a:blipFill>
                <a:blip r:embed="rId4"/>
                <a:stretch>
                  <a:fillRect l="-6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0C770F1A-00E6-3DE2-74E7-ED09B2E3EB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245" y="4697661"/>
            <a:ext cx="7199250" cy="142156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8B633A5-738B-EBB4-DE3D-2944C36FCF82}"/>
              </a:ext>
            </a:extLst>
          </p:cNvPr>
          <p:cNvPicPr>
            <a:picLocks/>
          </p:cNvPicPr>
          <p:nvPr/>
        </p:nvPicPr>
        <p:blipFill>
          <a:blip r:embed="rId6"/>
          <a:srcRect l="9269"/>
          <a:stretch>
            <a:fillRect/>
          </a:stretch>
        </p:blipFill>
        <p:spPr>
          <a:xfrm>
            <a:off x="9287716" y="2395111"/>
            <a:ext cx="2797548" cy="1944216"/>
          </a:xfrm>
          <a:prstGeom prst="rect">
            <a:avLst/>
          </a:prstGeom>
        </p:spPr>
      </p:pic>
      <p:pic>
        <p:nvPicPr>
          <p:cNvPr id="3" name="图片 2" descr="19503.webp">
            <a:extLst>
              <a:ext uri="{FF2B5EF4-FFF2-40B4-BE49-F238E27FC236}">
                <a16:creationId xmlns:a16="http://schemas.microsoft.com/office/drawing/2014/main" id="{E02070B6-B1CB-594E-53ED-58FF3E126618}"/>
              </a:ext>
            </a:extLst>
          </p:cNvPr>
          <p:cNvPicPr>
            <a:picLocks/>
          </p:cNvPicPr>
          <p:nvPr/>
        </p:nvPicPr>
        <p:blipFill>
          <a:blip r:embed="rId7"/>
          <a:srcRect l="8221" t="49839" r="5790" b="11554"/>
          <a:stretch>
            <a:fillRect/>
          </a:stretch>
        </p:blipFill>
        <p:spPr>
          <a:xfrm>
            <a:off x="9287716" y="1266841"/>
            <a:ext cx="2520280" cy="1131553"/>
          </a:xfrm>
          <a:prstGeom prst="rect">
            <a:avLst/>
          </a:prstGeom>
        </p:spPr>
      </p:pic>
      <p:pic>
        <p:nvPicPr>
          <p:cNvPr id="4" name="图片 3" descr="&#10;       图42B:&amp;nbsp;反射镜反射率为99.7％、80％和4％的法布里－珀罗干涉仪的模式光谱，分别由蓝色，红色和绿色曲线表示。99.7％的反射率对应于SA200系列，其自由光谱范围为1.5 GHz。4％的反射率对应于玻璃板平行表面之间反射所产生的典型边缘效应。&#10;    ">
            <a:extLst>
              <a:ext uri="{FF2B5EF4-FFF2-40B4-BE49-F238E27FC236}">
                <a16:creationId xmlns:a16="http://schemas.microsoft.com/office/drawing/2014/main" id="{1BBC05D9-4E8B-9E83-A2FF-0337CF0EFFB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44072" y="4475630"/>
            <a:ext cx="3341606" cy="2176328"/>
          </a:xfrm>
          <a:prstGeom prst="rect">
            <a:avLst/>
          </a:prstGeom>
        </p:spPr>
      </p:pic>
      <p:pic>
        <p:nvPicPr>
          <p:cNvPr id="6" name="图片 5" descr="ttn298338.webp">
            <a:extLst>
              <a:ext uri="{FF2B5EF4-FFF2-40B4-BE49-F238E27FC236}">
                <a16:creationId xmlns:a16="http://schemas.microsoft.com/office/drawing/2014/main" id="{264DAC43-ACDE-EEBE-574C-5DADD916CF1C}"/>
              </a:ext>
            </a:extLst>
          </p:cNvPr>
          <p:cNvPicPr>
            <a:picLocks/>
          </p:cNvPicPr>
          <p:nvPr/>
        </p:nvPicPr>
        <p:blipFill>
          <a:blip r:embed="rId9"/>
          <a:srcRect l="6951" t="22701" r="8001" b="22700"/>
          <a:stretch>
            <a:fillRect/>
          </a:stretch>
        </p:blipFill>
        <p:spPr>
          <a:xfrm>
            <a:off x="9867744" y="4697661"/>
            <a:ext cx="2052228" cy="1856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1704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2DF92D-E8DB-C26D-5996-167386E16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9" name="Rectangle 11">
            <a:extLst>
              <a:ext uri="{FF2B5EF4-FFF2-40B4-BE49-F238E27FC236}">
                <a16:creationId xmlns:a16="http://schemas.microsoft.com/office/drawing/2014/main" id="{031BC09B-8256-220A-2E6A-99B1358274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5029200" cy="563562"/>
          </a:xfrm>
        </p:spPr>
        <p:txBody>
          <a:bodyPr>
            <a:normAutofit fontScale="90000"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标准具</a:t>
            </a:r>
            <a:endParaRPr lang="zh-CN" altLang="zh-CN" sz="4000" dirty="0">
              <a:solidFill>
                <a:schemeClr val="bg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2" name="内容占位符 11">
            <a:extLst>
              <a:ext uri="{FF2B5EF4-FFF2-40B4-BE49-F238E27FC236}">
                <a16:creationId xmlns:a16="http://schemas.microsoft.com/office/drawing/2014/main" id="{4DAA044C-43BE-A64E-2DCD-7A02391B5E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6" y="1376826"/>
            <a:ext cx="9235115" cy="444006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sz="2000" dirty="0" err="1"/>
              <a:t>Lightmachinery</a:t>
            </a:r>
            <a:r>
              <a:rPr lang="zh-CN" altLang="en-US" sz="2000" dirty="0"/>
              <a:t>的</a:t>
            </a:r>
            <a:r>
              <a:rPr lang="en-US" altLang="zh-CN" sz="2000" dirty="0"/>
              <a:t>Silica</a:t>
            </a:r>
            <a:r>
              <a:rPr lang="zh-CN" altLang="en-US" sz="2000" dirty="0"/>
              <a:t>标准具，自由光谱范围</a:t>
            </a:r>
            <a:r>
              <a:rPr lang="en-US" altLang="zh-CN" sz="2000" dirty="0"/>
              <a:t>15GHz</a:t>
            </a:r>
            <a:r>
              <a:rPr lang="zh-CN" altLang="en-US" sz="2000" dirty="0"/>
              <a:t>，</a:t>
            </a:r>
            <a:r>
              <a:rPr lang="it-IT" altLang="zh-CN" sz="2000" dirty="0"/>
              <a:t> </a:t>
            </a:r>
            <a:r>
              <a:rPr lang="zh-CN" altLang="en-US" sz="2000" dirty="0"/>
              <a:t>分辨率</a:t>
            </a:r>
            <a:r>
              <a:rPr lang="en-US" altLang="zh-CN" sz="2000" dirty="0"/>
              <a:t>500MHz</a:t>
            </a:r>
            <a:r>
              <a:rPr lang="zh-CN" altLang="en-US" sz="2000" dirty="0"/>
              <a:t>。</a:t>
            </a: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zh-CN" altLang="en-US" sz="2400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5F3BDA3-D1C3-9428-014D-1A6A758968B2}"/>
              </a:ext>
            </a:extLst>
          </p:cNvPr>
          <p:cNvPicPr>
            <a:picLocks/>
          </p:cNvPicPr>
          <p:nvPr/>
        </p:nvPicPr>
        <p:blipFill>
          <a:blip r:embed="rId4"/>
          <a:srcRect l="3988" t="4372" r="2516" b="6873"/>
          <a:stretch>
            <a:fillRect/>
          </a:stretch>
        </p:blipFill>
        <p:spPr>
          <a:xfrm>
            <a:off x="441159" y="1918932"/>
            <a:ext cx="7416824" cy="144016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36826468-3546-B075-A267-4BA816DB17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4272" y="1195404"/>
            <a:ext cx="2110731" cy="2163688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C5580D58-7669-B794-FB65-3DE184CFD4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96200" y="3498908"/>
            <a:ext cx="3948202" cy="3076521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10819545-E1A4-2E0F-39D2-BC949BD0862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7408" y="3598893"/>
            <a:ext cx="6772275" cy="2876550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FCA19EC3-50D1-E266-95EC-F2363531953D}"/>
              </a:ext>
            </a:extLst>
          </p:cNvPr>
          <p:cNvSpPr txBox="1"/>
          <p:nvPr/>
        </p:nvSpPr>
        <p:spPr>
          <a:xfrm>
            <a:off x="164480" y="6475443"/>
            <a:ext cx="46805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zh-CN" altLang="zh-CN" sz="700" b="0" i="0" dirty="0">
                <a:solidFill>
                  <a:schemeClr val="tx1"/>
                </a:solidFill>
                <a:effectLst/>
                <a:latin typeface="+mn-lt"/>
              </a:rPr>
              <a:t>Experimental analysis on the rapid measurement of a high precision Brillouin scattering spectrum in water using a Fabry–Pérot etalon</a:t>
            </a:r>
            <a:r>
              <a:rPr lang="en-US" altLang="zh-CN" sz="700" dirty="0"/>
              <a:t>: </a:t>
            </a:r>
            <a:r>
              <a:rPr lang="en-US" altLang="zh-CN" sz="700" dirty="0">
                <a:hlinkClick r:id="rId8"/>
              </a:rPr>
              <a:t>http://dx.doi.org/10.1088/1612-2011/13/5/055701</a:t>
            </a:r>
            <a:r>
              <a:rPr lang="en-US" altLang="zh-CN" sz="700" dirty="0"/>
              <a:t> </a:t>
            </a:r>
            <a:endParaRPr lang="zh-CN" altLang="zh-CN" sz="700" b="0" i="0" dirty="0">
              <a:solidFill>
                <a:srgbClr val="333333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33672168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E52190-70B0-F3B2-1F3B-72EAA5C44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01DC6E0B-5B1A-A49A-81BC-24D335EE7832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228600"/>
            <a:ext cx="5029200" cy="563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VIPA</a:t>
            </a:r>
            <a:endParaRPr lang="zh-CN" altLang="zh-CN" sz="4000" dirty="0">
              <a:solidFill>
                <a:schemeClr val="bg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9D819EB-5D70-C605-3357-C6E250A7EF73}"/>
              </a:ext>
            </a:extLst>
          </p:cNvPr>
          <p:cNvSpPr txBox="1"/>
          <p:nvPr/>
        </p:nvSpPr>
        <p:spPr>
          <a:xfrm>
            <a:off x="119336" y="6447940"/>
            <a:ext cx="10873208" cy="3602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</a:pPr>
            <a:r>
              <a:rPr lang="en-US" altLang="zh-CN" sz="1100" dirty="0">
                <a:solidFill>
                  <a:srgbClr val="000000"/>
                </a:solidFill>
                <a:latin typeface="Noto Sans" panose="020B0502040504020204" pitchFamily="34" charset="0"/>
              </a:rPr>
              <a:t>Angle dependence of Brillouin scattering intensity in Liquids </a:t>
            </a:r>
            <a:r>
              <a:rPr lang="zh-CN" altLang="en-US" sz="1100" dirty="0">
                <a:hlinkClick r:id="rId4"/>
              </a:rPr>
              <a:t>https://doi.org/10.1364/OL.557682</a:t>
            </a:r>
            <a:r>
              <a:rPr lang="en-US" altLang="zh-CN" sz="1100" dirty="0">
                <a:solidFill>
                  <a:srgbClr val="000000"/>
                </a:solidFill>
                <a:latin typeface="Noto Sans" panose="020B0502040504020204" pitchFamily="34" charset="0"/>
              </a:rPr>
              <a:t> </a:t>
            </a:r>
            <a:endParaRPr lang="zh-CN" altLang="en-US" sz="11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7E74BB-83C3-6971-0CB5-674E643E91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9416" y="1757954"/>
            <a:ext cx="6679872" cy="15107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dirty="0"/>
              <a:t>VIPA</a:t>
            </a:r>
            <a:r>
              <a:rPr lang="zh-CN" altLang="en-US" sz="2400" dirty="0"/>
              <a:t>虚拟成像相位阵列，</a:t>
            </a:r>
            <a:r>
              <a:rPr lang="en-US" altLang="zh-CN" sz="2400" dirty="0" err="1"/>
              <a:t>Lightmachinery</a:t>
            </a:r>
            <a:r>
              <a:rPr lang="zh-CN" altLang="en-US" sz="2400" dirty="0"/>
              <a:t>的</a:t>
            </a:r>
            <a:r>
              <a:rPr lang="en-US" altLang="zh-CN" sz="2400" dirty="0"/>
              <a:t>VIPA</a:t>
            </a:r>
            <a:r>
              <a:rPr lang="zh-CN" altLang="en-US" sz="2400" dirty="0"/>
              <a:t>，自由光谱范围</a:t>
            </a:r>
            <a:r>
              <a:rPr lang="en-US" altLang="zh-CN" sz="2400" dirty="0"/>
              <a:t>15GHz</a:t>
            </a:r>
            <a:r>
              <a:rPr lang="zh-CN" altLang="en-US" sz="2400" dirty="0"/>
              <a:t>，</a:t>
            </a:r>
            <a:r>
              <a:rPr lang="it-IT" altLang="zh-CN" sz="2400" dirty="0"/>
              <a:t> </a:t>
            </a:r>
            <a:r>
              <a:rPr lang="zh-CN" altLang="en-US" sz="2400" dirty="0"/>
              <a:t>分辨率约</a:t>
            </a:r>
            <a:r>
              <a:rPr lang="en-US" altLang="zh-CN" sz="2400" dirty="0"/>
              <a:t>400MHz</a:t>
            </a:r>
            <a:endParaRPr lang="zh-CN" altLang="en-US" sz="2000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54B921C2-858F-5626-D125-F8EDC34CB9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0056" y="3820899"/>
            <a:ext cx="5452790" cy="230585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6467C979-3812-678B-4BA3-8D50ED6F9531}"/>
              </a:ext>
            </a:extLst>
          </p:cNvPr>
          <p:cNvPicPr>
            <a:picLocks/>
          </p:cNvPicPr>
          <p:nvPr/>
        </p:nvPicPr>
        <p:blipFill>
          <a:blip r:embed="rId6"/>
          <a:srcRect r="32836"/>
          <a:stretch>
            <a:fillRect/>
          </a:stretch>
        </p:blipFill>
        <p:spPr>
          <a:xfrm>
            <a:off x="7896200" y="1420244"/>
            <a:ext cx="3240360" cy="184847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3D85BCEF-9029-FA56-0C56-01AC58B199E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7408" y="3589278"/>
            <a:ext cx="5775240" cy="2577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45807"/>
      </p:ext>
    </p:extLst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6.5ha</Template>
  <TotalTime>223</TotalTime>
  <Words>382</Words>
  <Application>Microsoft Office PowerPoint</Application>
  <PresentationFormat>宽屏</PresentationFormat>
  <Paragraphs>17</Paragraphs>
  <Slides>4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3" baseType="lpstr">
      <vt:lpstr>-apple-system</vt:lpstr>
      <vt:lpstr>等线</vt:lpstr>
      <vt:lpstr>华文中宋</vt:lpstr>
      <vt:lpstr>Arial</vt:lpstr>
      <vt:lpstr>Calibri</vt:lpstr>
      <vt:lpstr>Calibri Light</vt:lpstr>
      <vt:lpstr>Cambria Math</vt:lpstr>
      <vt:lpstr>Noto Sans</vt:lpstr>
      <vt:lpstr>默认设计模板</vt:lpstr>
      <vt:lpstr>布里渊散射光谱的测量</vt:lpstr>
      <vt:lpstr>FP干涉仪</vt:lpstr>
      <vt:lpstr>标准具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ao 贺</dc:creator>
  <cp:lastModifiedBy>ao 贺</cp:lastModifiedBy>
  <cp:revision>4</cp:revision>
  <cp:lastPrinted>1601-01-01T00:00:00Z</cp:lastPrinted>
  <dcterms:created xsi:type="dcterms:W3CDTF">2026-07-10T03:08:02Z</dcterms:created>
  <dcterms:modified xsi:type="dcterms:W3CDTF">2026-09-19T12:39:45Z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